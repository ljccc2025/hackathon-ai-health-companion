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各位老师好，我是今天答辩的主角——"轻养伴侣"。这是一款以温柔陪伴为核心理念的 AI 健康微习惯应用。它不追求严苛的自律打卡，而是通过纸墨手帐的设计语言和 AI 温柔对话，帮助用户从最小的一步开始照顾自己。今天我将从项目背景、产品定位、六大功能模块、技术架构、安全设计、交互体验等角度，向大家介绍这个项目。</a:t>
            </a:r>
          </a:p>
          <a:p>
            <a:endParaRPr lang="zh-CN" dirty="0"/>
          </a:p>
          <a:p>
            <a:r>
              <a:rPr lang="zh-CN" dirty="0"/>
              <a:t>要点：① 项目名称与定位 ② 核心标语传达产品哲学 ③ 答辩结构预告</a:t>
            </a:r>
          </a:p>
          <a:p>
            <a:r>
              <a:rPr lang="zh-CN" dirty="0"/>
              <a:t>时长：45 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本次答辩将按以下结构展开：首先介绍项目背景和痛点，然后阐述产品定位，接着详细讲解六大功能模块，最后介绍技术架构、安全设计、交互体验和数据模型，以及项目的总结与未来展望。整个过程大约需要 15 分钟。</a:t>
            </a:r>
          </a:p>
          <a:p>
            <a:endParaRPr lang="zh-CN" dirty="0"/>
          </a:p>
          <a:p>
            <a:r>
              <a:rPr lang="zh-CN" dirty="0"/>
              <a:t>要点：① 9 个章节概览 ② 从背景到展望的递进逻辑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让我们先看看为什么要做这样一款产品。市面上的健康 App 普遍存在两大问题：一是过于追求数据和打卡，让用户产生焦虑；二是缺乏温度，像冷冰冰的工具。具体来说，我们识别出五个核心痛点：健康 App 太严苛导致负罪感、情绪无处可说、久坐缺水被忽视、数据冷冰冰没有情感连接、以及隐私让人不安。轻养伴侣的差异化定位是"一个会关心你的手帐本"，而不是"一个监督你的教练"。</a:t>
            </a:r>
          </a:p>
          <a:p>
            <a:endParaRPr lang="zh-CN" dirty="0"/>
          </a:p>
          <a:p>
            <a:r>
              <a:rPr lang="zh-CN" dirty="0"/>
              <a:t>[停顿] 请大家看一眼右侧的手机线框图——这就是传统健康 App 给人的感觉：冷冰冰的界面，让人只想赶紧关掉。</a:t>
            </a:r>
          </a:p>
          <a:p>
            <a:endParaRPr lang="zh-CN" dirty="0"/>
          </a:p>
          <a:p>
            <a:r>
              <a:rPr lang="zh-CN" dirty="0"/>
              <a:t>要点：① 五个痛点环环相扣 ② 传统方案失败的原因 ③ 引出轻养伴侣的差异化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那么，轻养伴侣要做一个什么样的产品呢？我们把它定义为"不是教练，是陪伴"。四个核心理念：第一，微习惯哲学——喝一口水、伸展 30 秒就值得被记录，不追求完美；第二，纸墨手帐美学——用宣纸纹理、墨色渐变构建温暖视觉；第三，安全边界——不做诊断、不给药方，守护用户健康安全；第四，隐私优先——所有数据本地存储，AI 授权由用户完全控制。</a:t>
            </a:r>
          </a:p>
          <a:p>
            <a:endParaRPr lang="zh-CN" dirty="0"/>
          </a:p>
          <a:p>
            <a:r>
              <a:rPr lang="zh-CN" dirty="0"/>
              <a:t>[停顿] 品牌标语是这句话——"今天先照顾自己一点点。"这不是一句空洞的口号，而是整个产品的设计哲学。</a:t>
            </a:r>
          </a:p>
          <a:p>
            <a:endParaRPr lang="zh-CN" dirty="0"/>
          </a:p>
          <a:p>
            <a:r>
              <a:rPr lang="zh-CN" dirty="0"/>
              <a:t>要点：① 四个核心理念支撑差异化定位 ② 纸墨美学+安全+隐私构成产品护城河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这四个核心理念，我们设计出六大功能模块，温柔覆盖每一天。从"今日照顾"总入口开始——负责问候和猫猫陪伴；到"身体补给"——喝水追踪和用药提醒；再到"活动一下"——起身提醒和呼吸引导；"情绪安放"——树洞倾诉和 AI 温柔回应；"今日回顾"——贴纸墙和睡眠记录；最后"数据洞察"——热力图和 AI 周报。六个模块用不同的配色区分，从绿色到暖橙到粉色，形成完整的温柔照顾体系。</a:t>
            </a:r>
          </a:p>
          <a:p>
            <a:endParaRPr lang="zh-CN" dirty="0"/>
          </a:p>
          <a:p>
            <a:r>
              <a:rPr lang="zh-CN" dirty="0"/>
              <a:t>要点：① 六大模块全貌 ② 模块间逻辑关系 ③ 色彩区分体系</a:t>
            </a:r>
          </a:p>
          <a:p>
            <a:r>
              <a:rPr lang="zh-CN" dirty="0"/>
              <a:t>时长：45 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现在让我们进入第一个模块：今日照顾。它是产品的总入口。用户打开后首先看到的是根据当前时间生成的温柔问候——清晨、上午、午后、傍晚、深夜各有不同。桌面端还有一个 SVG 猫咪陪伴，它会根据用户行为做出反应：喝完水后开心跳动，久坐超过一小时就提醒你起身。用户还可以选择五种 AI 语气——朋友式、安静式、鼓励式、诗意式、陪伴式。右上角还有天气展示。技术层面，我们实现了时段感知问候、天气感知粒子动画、季节色温微调。</a:t>
            </a:r>
          </a:p>
          <a:p>
            <a:endParaRPr lang="zh-CN" dirty="0"/>
          </a:p>
          <a:p>
            <a:r>
              <a:rPr lang="zh-CN" dirty="0"/>
              <a:t>要点：① AI 时段问候 ② 猫咪陪伴互动 ③ 五种语气 + 天气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是身体补给模块——负责"给身体补一点状态"。喝水追踪支持小口、半杯、整杯三种记录方式。用药笔记可以自定义药名、剂量、时间和重复规则。这里有一个重要的安全标注——我们不提供药物建议，只在用户自己设定的时间轻轻提醒。还有生理周期四阶段追踪、emoji 零食记录，以及饮水热力图按周查看补水分布。所有数据存储在本地 IndexedDB，不上传云端。</a:t>
            </a:r>
          </a:p>
          <a:p>
            <a:endParaRPr lang="zh-CN" dirty="0"/>
          </a:p>
          <a:p>
            <a:r>
              <a:rPr lang="zh-CN" dirty="0"/>
              <a:t>[停顿] 底部这条暖色提示条是我们对用户的承诺，也是产品安全边界的体现。</a:t>
            </a:r>
          </a:p>
          <a:p>
            <a:endParaRPr lang="zh-CN" dirty="0"/>
          </a:p>
          <a:p>
            <a:r>
              <a:rPr lang="zh-CN" dirty="0"/>
              <a:t>要点：① 喝水+用药两大核心功能 ② 安全标注的重要性 ③ 本地存储隐私保护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活动模块的设计原则是"从久坐里轻轻出来，伸展 30 秒就够了"。五个功能：久坐起身提醒——检测超过阈值时温柔提醒并配合猫猫动画；散步计时器——自定义时长完成后收到鼓励；微运动——针对颈部、眼睛、手腕、背部、全身，每次 30 秒到 2 分钟；睡前呼吸引导——经典的 4-2-6 呼吸法，配合 SVG 圆环动画和触觉反馈；还有白噪音播放。这些功能不给用户任何压力，30 秒就够。</a:t>
            </a:r>
          </a:p>
          <a:p>
            <a:endParaRPr lang="zh-CN" dirty="0"/>
          </a:p>
          <a:p>
            <a:r>
              <a:rPr lang="zh-CN" dirty="0"/>
              <a:t>要点：① 五个功能覆盖不同场景 ② 4-2-6 呼吸法技术实现 ③ 低压力的设计理念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情绪安放是最核心也最需要安全考量的模块，它贯穿了整个产品的安全设计理念。首先，情绪性进食识别——用户选择 10 种情绪标签和饥饿等级，AI 温柔建议；情绪树洞——自由书写，甚至支持语音输入，AI 回应温柔不评判；危机检测——识别到自杀、自伤等紧急表述时，不调用 AI，直接返回安全引导并建议拨打 120。我们建立了三层安全管线：第一层输入检测紧急关键词，第二层输出阶段用六组正则过滤医疗化表述，第三层展示阶段做 XSS 实体转义防护。</a:t>
            </a:r>
          </a:p>
          <a:p>
            <a:endParaRPr lang="zh-CN" dirty="0"/>
          </a:p>
          <a:p>
            <a:r>
              <a:rPr lang="zh-CN" dirty="0"/>
              <a:t>[停顿] 这个粉色高亮卡片重申了安全设计的重要性——这不是可选的附加功能，而是产品不可逾越的底线。</a:t>
            </a:r>
          </a:p>
          <a:p>
            <a:endParaRPr lang="zh-CN" dirty="0"/>
          </a:p>
          <a:p>
            <a:r>
              <a:rPr lang="zh-CN" dirty="0"/>
              <a:t>要点：① 情绪树洞+进食识别双路径 ② 三层安全管线详解 ③ 危机检测机制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回顾模块的核心是"小成就"——不是完成了多大目标，而是今天照顾了自己几次。睡眠记录可以记录好、一般、差三个等级。每日总结汇总喝水、起身、情绪、呼吸四项数据。日记一句话跨日自动清空。重点是成就贴纸墙——六种贴纸：喝水获得小水滴、起身获得离开椅子、情绪停顿获得暂停键、呼吸获得小月亮、用药获得小纸条、运动获得舒展叶。这是一种去量化的正向反馈机制，比数字更有温度。</a:t>
            </a:r>
          </a:p>
          <a:p>
            <a:endParaRPr lang="zh-CN" dirty="0"/>
          </a:p>
          <a:p>
            <a:r>
              <a:rPr lang="zh-CN" dirty="0"/>
              <a:t>要点：① "小成就"设计理念 ② 六种贴纸正向激励 ③ 去量化的反馈机制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数据洞察模块的设计哲学是"不需要分析，不需要比较，只是看看这些天你的小痕迹"。我们提供了喝水热力图——按周或月展示饮水分布；情绪趋势图——7 天或 30 天标签变化；健康快照——当日四项指标汇总卡片，一键导出为图片可以直接分享到朋友圈；AI 周报用温柔的语气总结一周自我照顾——比如说"这周你起身了 12 次，比上周多了 3 次，你的身体一定很感谢你"，而不是冷冰冰的"完成率 85%，未达标"。</a:t>
            </a:r>
          </a:p>
          <a:p>
            <a:endParaRPr lang="zh-CN" dirty="0"/>
          </a:p>
          <a:p>
            <a:r>
              <a:rPr lang="zh-CN" dirty="0"/>
              <a:t>要点：① 热力图+趋势图可视化 ② AI 周报的"温柔语气"设计 ③ 健康快照一键导出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现在进入技术部分。我们采用三层架构：PWA 应用层用 React 19 + TypeScript 6.0 + Tailwind CSS 4 + Framer Motion 12 + Zustand 5；数据与服务层用 Dexie.js 封装 IndexedDB——目前有 11 张表、经历了 12 次版本迁移，加上 Service Worker 离线缓存和 Web Speech API 语音输入；AI 后端用 Hono 4 轻量服务器，运行在 8787 端口，8 个 API 端点，通过 Vite 代理转发。右侧是完整的 10 个技术标签。整个架构支持 PWA 离线使用和桌面安装。</a:t>
            </a:r>
          </a:p>
          <a:p>
            <a:endParaRPr lang="zh-CN" dirty="0"/>
          </a:p>
          <a:p>
            <a:r>
              <a:rPr lang="zh-CN" dirty="0"/>
              <a:t>要点：① 三层架构清晰分工 ② 关键技术选型 ③ PWA 离线能力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安全是轻养伴侣最重要的非功能需求。我们建立了一套完整的安全管线：用户输入 → 紧急关键词检测 → AI 处理 → 输出正则过滤 → XSS 转义 → 安全展示。四层安全机制：输入层检测 10 多个紧急关键词触发安全引导；输出层用六组正则过滤诊断用语、药物建议、处方等；展示层对 HTML 实体进行转义防护 XSS；隐私层所有数据本地 IndexedDB 存储，AI 功能按数据类别独立授权——情绪、树洞、饮食各自有独立开关。</a:t>
            </a:r>
          </a:p>
          <a:p>
            <a:endParaRPr lang="zh-CN" dirty="0"/>
          </a:p>
          <a:p>
            <a:r>
              <a:rPr lang="zh-CN" dirty="0"/>
              <a:t>[停顿] 特别说明：如果检测到"自杀""胸痛""呼吸困难"等紧急表述，系统不调用 AI，直接返回安全引导信息，建议拨打 120。</a:t>
            </a:r>
          </a:p>
          <a:p>
            <a:endParaRPr lang="zh-CN" dirty="0"/>
          </a:p>
          <a:p>
            <a:r>
              <a:rPr lang="zh-CN" dirty="0"/>
              <a:t>要点：① 完整安全管线 ② 四层安全机制详解 ③ 紧急情况不调用 AI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设计上我们构建了一套"纸墨手帐"语言。四个主色调：墨绿 Ink 用于标题和重点，宣纸 Paper 是全局基底，暖橙 Warm 用于活动和提醒，粉色 Blossom 用于情绪和温柔互动。六大交互亮点：纸纹理叠层随滚动动态变化；6 个时段不同光晕——清晨淡绿到深夜暗绿；三种天气粒子动画；桌面端 3D 翻页效果；颜色随季节微调；手机摇一摇触发全屏温柔短句配合触觉反馈——比如"你已经做得很好了""休息一下也没关系"。</a:t>
            </a:r>
          </a:p>
          <a:p>
            <a:endParaRPr lang="zh-CN" dirty="0"/>
          </a:p>
          <a:p>
            <a:r>
              <a:rPr lang="zh-CN" dirty="0"/>
              <a:t>要点：① 纸墨色彩系统 ② 六大交互亮点 ③ 摇一摇鼓励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数据层采用 Dexie.js 封装 IndexedDB，经历了 12 次版本迁移，目前包含 11 张业务表。大家可以看表格——从喝水记录到睡眠记录，覆盖了所有功能模块。整个架构是"本地优先"：数据默认存储在用户设备上，AI 功能仅按需发送最小必要信息。数据原则是：全部本地存储、不上传云端、用户完全掌控、AI 调用最小化。即使用户断网，也可以正常使用所有本地功能。</a:t>
            </a:r>
          </a:p>
          <a:p>
            <a:endParaRPr lang="zh-CN" dirty="0"/>
          </a:p>
          <a:p>
            <a:r>
              <a:rPr lang="zh-CN" dirty="0"/>
              <a:t>要点：① 11 张表覆盖全模块 ② 12 次版本迁移 ③ 本地优先数据原则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最后做一个总结。左侧是我们已经完成的六项工作——6 大模块、PWA 跨平台、安全管线、纸墨设计、离线架构、12 次数据库迁移。右侧是未来展望：本地小模型实现完全离线 AI、Apple Health 数据同步、多人陪伴模式、国际化、更多传感器交互。</a:t>
            </a:r>
          </a:p>
          <a:p>
            <a:endParaRPr lang="zh-CN" dirty="0"/>
          </a:p>
          <a:p>
            <a:r>
              <a:rPr lang="zh-CN" dirty="0"/>
              <a:t>[停顿] 轻养伴侣是一个"反内卷"的产品。它不用打卡绑架用户，不用排行榜制造焦虑，不用冷冰冰的数据报告让人沮丧。它相信——每次喝一口水、每次站起来伸展 30 秒、每次把情绪轻轻放进树洞——都是值得被看见的微小胜利。这就是温柔的力量。</a:t>
            </a:r>
          </a:p>
          <a:p>
            <a:endParaRPr lang="zh-CN" dirty="0"/>
          </a:p>
          <a:p>
            <a:r>
              <a:rPr lang="zh-CN" dirty="0"/>
              <a:t>要点：① 已完成六项总结 ② 五项未来展望 ③ 金句收尾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以上就是我本次答辩的全部内容。</a:t>
            </a:r>
          </a:p>
          <a:p>
            <a:endParaRPr lang="zh-CN" dirty="0"/>
          </a:p>
          <a:p>
            <a:r>
              <a:rPr lang="zh-CN" dirty="0"/>
              <a:t>感谢各位老师的聆听。轻养伴侣——今天不用一下子变得很健康，先从一口水、一次起身、一次深呼吸开始。欢迎各位老师提问。</a:t>
            </a:r>
          </a:p>
          <a:p>
            <a:endParaRPr lang="zh-CN" dirty="0"/>
          </a:p>
          <a:p>
            <a:r>
              <a:rPr lang="zh-CN" dirty="0"/>
              <a:t>要点：① 感谢语 ② 品牌标语重温 ③ 开放提问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A2C"/>
              </a:gs>
              <a:gs pos="50000">
                <a:srgbClr val="244737"/>
              </a:gs>
              <a:gs pos="100000">
                <a:srgbClr val="1C3A2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714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382375" y="714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14375" y="6048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382375" y="6048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0" y="1333500"/>
            <a:ext cx="1905000" cy="9525"/>
          </a:xfrm>
          <a:prstGeom prst="rect">
            <a:avLst/>
          </a:prstGeom>
          <a:solidFill>
            <a:srgbClr val="498268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64663" y="173736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轻 养 伴 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2059" y="2536508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AI 温柔健康微习惯助手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143500" y="3143250"/>
            <a:ext cx="1905000" cy="9525"/>
          </a:xfrm>
          <a:prstGeom prst="rect">
            <a:avLst/>
          </a:prstGeom>
          <a:solidFill>
            <a:srgbClr val="498268">
              <a:alpha val="4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41570" y="3585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DFCF9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今天不用一下子变得很健康。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15790" y="38709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DFCF9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先从一口水、一次起身、一次深呼吸开始。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48177" y="503015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导师：________ 答辩人：________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18453" y="5363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2026年5月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01 / 17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709612"/>
            <a:ext cx="74723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095375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144000" y="1905000"/>
            <a:ext cx="3048000" cy="3048000"/>
          </a:xfrm>
          <a:prstGeom prst="ellipse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23950" y="1552575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105" y="15687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项目背景与痛点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905000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21717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2105" y="2187892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产品定位与核心理念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43000" y="2524125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23950" y="27908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2105" y="280701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六大功能模块总览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3143250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23950" y="34099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2105" y="342614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功能详解 — 六大模块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143000" y="3762375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3950" y="402907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2105" y="40452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技术架构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4381500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3950" y="46482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2105" y="4664392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安全与隐私设计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143000" y="5000625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3950" y="52673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2105" y="5283518"/>
            <a:ext cx="2853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设计语言 · 数据模型 · 总结展望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43000" y="5619750"/>
            <a:ext cx="47625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02 / 17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423862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为什么需要「轻养伴侣」？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8572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114300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47700"/>
                </a:lnTo>
                <a:cubicBezTo>
                  <a:pt x="38100" y="658221"/>
                  <a:pt x="29571" y="666750"/>
                  <a:pt x="19050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762000" y="1143000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571500"/>
                </a:lnTo>
                <a:cubicBezTo>
                  <a:pt x="5715000" y="624105"/>
                  <a:pt x="5672355" y="666750"/>
                  <a:pt x="5619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1558" y="1272064"/>
            <a:ext cx="14499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健康 App 太严苛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415" y="152495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打卡失败产生负罪感，用户很快放弃，留存率极低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" y="200025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47700"/>
                </a:lnTo>
                <a:cubicBezTo>
                  <a:pt x="38100" y="658221"/>
                  <a:pt x="29571" y="666750"/>
                  <a:pt x="19050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73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62000" y="2000250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571500"/>
                </a:lnTo>
                <a:cubicBezTo>
                  <a:pt x="5715000" y="624105"/>
                  <a:pt x="5672355" y="666750"/>
                  <a:pt x="5619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1558" y="21293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情绪无处可说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4415" y="23822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缺少安全的倾诉空间，AI 聊天又缺乏医疗安全边界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85750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47700"/>
                </a:lnTo>
                <a:cubicBezTo>
                  <a:pt x="38100" y="658221"/>
                  <a:pt x="29571" y="666750"/>
                  <a:pt x="19050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762000" y="2857500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571500"/>
                </a:lnTo>
                <a:cubicBezTo>
                  <a:pt x="5715000" y="624105"/>
                  <a:pt x="5672355" y="666750"/>
                  <a:pt x="5619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1558" y="2986564"/>
            <a:ext cx="14010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久坐缺水被忽视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415" y="323945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工位提醒像命令而不是关心，用户产生抵触情绪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371475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47700"/>
                </a:lnTo>
                <a:cubicBezTo>
                  <a:pt x="38100" y="658221"/>
                  <a:pt x="29571" y="666750"/>
                  <a:pt x="19050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762000" y="3714750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571500"/>
                </a:lnTo>
                <a:cubicBezTo>
                  <a:pt x="5715000" y="624105"/>
                  <a:pt x="5672355" y="666750"/>
                  <a:pt x="5619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31558" y="3843814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数据冷冰冰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4415" y="4096702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只有图表和数字，没有温度，无法产生情感连接</a:t>
            </a:r>
          </a:p>
        </p:txBody>
      </p:sp>
      <p:sp>
        <p:nvSpPr>
          <p:cNvPr id="21" name="Freeform 21"/>
          <p:cNvSpPr/>
          <p:nvPr/>
        </p:nvSpPr>
        <p:spPr>
          <a:xfrm>
            <a:off x="762000" y="4572000"/>
            <a:ext cx="38100" cy="666750"/>
          </a:xfrm>
          <a:custGeom>
            <a:avLst/>
            <a:gdLst/>
            <a:ahLst/>
            <a:cxnLst/>
            <a:rect l="l" t="t" r="r" b="b"/>
            <a:pathLst>
              <a:path w="38100" h="6667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647700"/>
                </a:lnTo>
                <a:cubicBezTo>
                  <a:pt x="38100" y="658221"/>
                  <a:pt x="29571" y="666750"/>
                  <a:pt x="19050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D6CC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762000" y="4572000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571500"/>
                </a:lnTo>
                <a:cubicBezTo>
                  <a:pt x="5715000" y="624105"/>
                  <a:pt x="5672355" y="666750"/>
                  <a:pt x="5619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1558" y="47010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隐私让人不安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4415" y="4953952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健康数据被上传云端，用户不敢记录真实状态</a:t>
            </a:r>
          </a:p>
        </p:txBody>
      </p:sp>
      <p:sp>
        <p:nvSpPr>
          <p:cNvPr id="25" name="Freeform 25"/>
          <p:cNvSpPr/>
          <p:nvPr/>
        </p:nvSpPr>
        <p:spPr>
          <a:xfrm>
            <a:off x="7048500" y="1524000"/>
            <a:ext cx="1905000" cy="3619500"/>
          </a:xfrm>
          <a:custGeom>
            <a:avLst/>
            <a:gdLst/>
            <a:ahLst/>
            <a:cxnLst/>
            <a:rect l="l" t="t" r="r" b="b"/>
            <a:pathLst>
              <a:path w="1905000" h="3619500">
                <a:moveTo>
                  <a:pt x="190500" y="0"/>
                </a:moveTo>
                <a:lnTo>
                  <a:pt x="1714500" y="0"/>
                </a:lnTo>
                <a:cubicBezTo>
                  <a:pt x="1819710" y="0"/>
                  <a:pt x="1905000" y="85290"/>
                  <a:pt x="1905000" y="190500"/>
                </a:cubicBezTo>
                <a:lnTo>
                  <a:pt x="1905000" y="3429000"/>
                </a:lnTo>
                <a:cubicBezTo>
                  <a:pt x="1905000" y="3534210"/>
                  <a:pt x="1819710" y="3619500"/>
                  <a:pt x="1714500" y="3619500"/>
                </a:cubicBezTo>
                <a:lnTo>
                  <a:pt x="190500" y="3619500"/>
                </a:lnTo>
                <a:cubicBezTo>
                  <a:pt x="85290" y="3619500"/>
                  <a:pt x="0" y="3534210"/>
                  <a:pt x="0" y="3429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noFill/>
          <a:ln w="19050">
            <a:solidFill>
              <a:srgbClr val="E5D9C3"/>
            </a:solidFill>
            <a:prstDash val="lgDash"/>
          </a:ln>
        </p:spPr>
      </p:sp>
      <p:sp>
        <p:nvSpPr>
          <p:cNvPr id="26" name="Freeform 26"/>
          <p:cNvSpPr/>
          <p:nvPr/>
        </p:nvSpPr>
        <p:spPr>
          <a:xfrm>
            <a:off x="7239000" y="1905000"/>
            <a:ext cx="1524000" cy="2857500"/>
          </a:xfrm>
          <a:custGeom>
            <a:avLst/>
            <a:gdLst/>
            <a:ahLst/>
            <a:cxnLst/>
            <a:rect l="l" t="t" r="r" b="b"/>
            <a:pathLst>
              <a:path w="1524000" h="285750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2800350"/>
                </a:lnTo>
                <a:cubicBezTo>
                  <a:pt x="1524000" y="2831913"/>
                  <a:pt x="1498413" y="2857500"/>
                  <a:pt x="1466850" y="2857500"/>
                </a:cubicBezTo>
                <a:lnTo>
                  <a:pt x="57150" y="2857500"/>
                </a:lnTo>
                <a:cubicBezTo>
                  <a:pt x="25587" y="2857500"/>
                  <a:pt x="0" y="2831913"/>
                  <a:pt x="0" y="2800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31441" y="3268028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传统健康 App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80960" y="3506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让人焦虑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39371" y="5903595"/>
            <a:ext cx="923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← 应用截图占位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03 / 17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376238"/>
            <a:ext cx="281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不是教练，是陪伴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809625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1238250"/>
            <a:ext cx="2428875" cy="2286000"/>
          </a:xfrm>
          <a:custGeom>
            <a:avLst/>
            <a:gdLst/>
            <a:ahLst/>
            <a:cxnLst/>
            <a:rect l="l" t="t" r="r" b="b"/>
            <a:pathLst>
              <a:path w="2428875" h="2286000">
                <a:moveTo>
                  <a:pt x="133350" y="0"/>
                </a:moveTo>
                <a:lnTo>
                  <a:pt x="2295525" y="0"/>
                </a:lnTo>
                <a:cubicBezTo>
                  <a:pt x="2369172" y="0"/>
                  <a:pt x="2428875" y="59703"/>
                  <a:pt x="2428875" y="133350"/>
                </a:cubicBezTo>
                <a:lnTo>
                  <a:pt x="2428875" y="2152650"/>
                </a:lnTo>
                <a:cubicBezTo>
                  <a:pt x="2428875" y="2226297"/>
                  <a:pt x="2369172" y="2286000"/>
                  <a:pt x="2295525" y="2286000"/>
                </a:cubicBezTo>
                <a:lnTo>
                  <a:pt x="133350" y="2286000"/>
                </a:lnTo>
                <a:cubicBezTo>
                  <a:pt x="59703" y="2286000"/>
                  <a:pt x="0" y="2226297"/>
                  <a:pt x="0" y="2152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17270" y="1407795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85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微习惯哲学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415" y="2267902"/>
            <a:ext cx="15141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喝一口水、伸展 30 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4415" y="24965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就值得被记录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2855595"/>
            <a:ext cx="1087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不追求"完美自律"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6320" y="30651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最小的行动也有意义</a:t>
            </a:r>
          </a:p>
        </p:txBody>
      </p:sp>
      <p:sp>
        <p:nvSpPr>
          <p:cNvPr id="12" name="Freeform 12"/>
          <p:cNvSpPr/>
          <p:nvPr/>
        </p:nvSpPr>
        <p:spPr>
          <a:xfrm>
            <a:off x="3476625" y="1238250"/>
            <a:ext cx="2428875" cy="2286000"/>
          </a:xfrm>
          <a:custGeom>
            <a:avLst/>
            <a:gdLst/>
            <a:ahLst/>
            <a:cxnLst/>
            <a:rect l="l" t="t" r="r" b="b"/>
            <a:pathLst>
              <a:path w="2428875" h="2286000">
                <a:moveTo>
                  <a:pt x="133350" y="0"/>
                </a:moveTo>
                <a:lnTo>
                  <a:pt x="2295525" y="0"/>
                </a:lnTo>
                <a:cubicBezTo>
                  <a:pt x="2369172" y="0"/>
                  <a:pt x="2428875" y="59703"/>
                  <a:pt x="2428875" y="133350"/>
                </a:cubicBezTo>
                <a:lnTo>
                  <a:pt x="2428875" y="2152650"/>
                </a:lnTo>
                <a:cubicBezTo>
                  <a:pt x="2428875" y="2226297"/>
                  <a:pt x="2369172" y="2286000"/>
                  <a:pt x="2295525" y="2286000"/>
                </a:cubicBezTo>
                <a:lnTo>
                  <a:pt x="133350" y="2286000"/>
                </a:lnTo>
                <a:cubicBezTo>
                  <a:pt x="59703" y="2286000"/>
                  <a:pt x="0" y="2226297"/>
                  <a:pt x="0" y="2152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31895" y="1407795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3325" y="1885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纸墨手帐美学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49040" y="22679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宣纸纹理、墨色渐变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9040" y="24965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像一本温暖的手帐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50945" y="28555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非对称留白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50945" y="30651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纸墨色彩系统</a:t>
            </a:r>
          </a:p>
        </p:txBody>
      </p:sp>
      <p:sp>
        <p:nvSpPr>
          <p:cNvPr id="19" name="Freeform 19"/>
          <p:cNvSpPr/>
          <p:nvPr/>
        </p:nvSpPr>
        <p:spPr>
          <a:xfrm>
            <a:off x="6191250" y="1238250"/>
            <a:ext cx="2428875" cy="2286000"/>
          </a:xfrm>
          <a:custGeom>
            <a:avLst/>
            <a:gdLst/>
            <a:ahLst/>
            <a:cxnLst/>
            <a:rect l="l" t="t" r="r" b="b"/>
            <a:pathLst>
              <a:path w="2428875" h="2286000">
                <a:moveTo>
                  <a:pt x="133350" y="0"/>
                </a:moveTo>
                <a:lnTo>
                  <a:pt x="2295525" y="0"/>
                </a:lnTo>
                <a:cubicBezTo>
                  <a:pt x="2369172" y="0"/>
                  <a:pt x="2428875" y="59703"/>
                  <a:pt x="2428875" y="133350"/>
                </a:cubicBezTo>
                <a:lnTo>
                  <a:pt x="2428875" y="2152650"/>
                </a:lnTo>
                <a:cubicBezTo>
                  <a:pt x="2428875" y="2226297"/>
                  <a:pt x="2369172" y="2286000"/>
                  <a:pt x="2295525" y="2286000"/>
                </a:cubicBezTo>
                <a:lnTo>
                  <a:pt x="133350" y="2286000"/>
                </a:lnTo>
                <a:cubicBezTo>
                  <a:pt x="59703" y="2286000"/>
                  <a:pt x="0" y="2226297"/>
                  <a:pt x="0" y="2152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446520" y="1407795"/>
            <a:ext cx="44653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🛡️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57950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安全边界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3665" y="22679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不做诊断、不给药方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3665" y="24965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守护用户健康安全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5570" y="28555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三层安全管线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5570" y="30651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紧急危机检测</a:t>
            </a:r>
          </a:p>
        </p:txBody>
      </p:sp>
      <p:sp>
        <p:nvSpPr>
          <p:cNvPr id="26" name="Freeform 26"/>
          <p:cNvSpPr/>
          <p:nvPr/>
        </p:nvSpPr>
        <p:spPr>
          <a:xfrm>
            <a:off x="8905875" y="1238250"/>
            <a:ext cx="2428875" cy="2286000"/>
          </a:xfrm>
          <a:custGeom>
            <a:avLst/>
            <a:gdLst/>
            <a:ahLst/>
            <a:cxnLst/>
            <a:rect l="l" t="t" r="r" b="b"/>
            <a:pathLst>
              <a:path w="2428875" h="2286000">
                <a:moveTo>
                  <a:pt x="133350" y="0"/>
                </a:moveTo>
                <a:lnTo>
                  <a:pt x="2295525" y="0"/>
                </a:lnTo>
                <a:cubicBezTo>
                  <a:pt x="2369172" y="0"/>
                  <a:pt x="2428875" y="59703"/>
                  <a:pt x="2428875" y="133350"/>
                </a:cubicBezTo>
                <a:lnTo>
                  <a:pt x="2428875" y="2152650"/>
                </a:lnTo>
                <a:cubicBezTo>
                  <a:pt x="2428875" y="2226297"/>
                  <a:pt x="2369172" y="2286000"/>
                  <a:pt x="2295525" y="2286000"/>
                </a:cubicBezTo>
                <a:lnTo>
                  <a:pt x="133350" y="2286000"/>
                </a:lnTo>
                <a:cubicBezTo>
                  <a:pt x="59703" y="2286000"/>
                  <a:pt x="0" y="2226297"/>
                  <a:pt x="0" y="2152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61145" y="1407795"/>
            <a:ext cx="253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72575" y="1885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隐私优先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78290" y="2267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数据本地存储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8290" y="24965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AI 授权由你控制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80195" y="28555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IndexedDB 本地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80195" y="30651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逐项授权开关</a:t>
            </a:r>
          </a:p>
        </p:txBody>
      </p:sp>
      <p:sp>
        <p:nvSpPr>
          <p:cNvPr id="33" name="Freeform 33"/>
          <p:cNvSpPr/>
          <p:nvPr/>
        </p:nvSpPr>
        <p:spPr>
          <a:xfrm>
            <a:off x="762000" y="4095750"/>
            <a:ext cx="57150" cy="285750"/>
          </a:xfrm>
          <a:custGeom>
            <a:avLst/>
            <a:gdLst/>
            <a:ahLst/>
            <a:cxnLst/>
            <a:rect l="l" t="t" r="r" b="b"/>
            <a:pathLst>
              <a:path w="57150" h="285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57175"/>
                </a:lnTo>
                <a:cubicBezTo>
                  <a:pt x="57150" y="272957"/>
                  <a:pt x="44357" y="285750"/>
                  <a:pt x="28575" y="285750"/>
                </a:cubicBezTo>
                <a:lnTo>
                  <a:pt x="28575" y="285750"/>
                </a:lnTo>
                <a:cubicBezTo>
                  <a:pt x="12793" y="285750"/>
                  <a:pt x="0" y="272957"/>
                  <a:pt x="0" y="257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81075" y="4152900"/>
            <a:ext cx="28203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" 今天先照顾自己一点点。 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8665" y="4839652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我们不是一个冷冰冰的健康教练，而是一本会关心你的纸墨手帐。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04 / 17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376238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六大模块，温柔覆盖每一天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809625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11430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066800" y="1400175"/>
            <a:ext cx="342900" cy="342900"/>
          </a:xfrm>
          <a:prstGeom prst="ellipse">
            <a:avLst/>
          </a:prstGeom>
          <a:solidFill>
            <a:srgbClr val="49826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8954" y="14763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2105" y="13973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今日照顾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6868" y="16854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总入口 · 最轻的一步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6820" y="2074545"/>
            <a:ext cx="17907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AI 问候 + 猫猫陪伴 + 语气选择</a:t>
            </a:r>
          </a:p>
        </p:txBody>
      </p:sp>
      <p:sp>
        <p:nvSpPr>
          <p:cNvPr id="11" name="Freeform 11"/>
          <p:cNvSpPr/>
          <p:nvPr/>
        </p:nvSpPr>
        <p:spPr>
          <a:xfrm>
            <a:off x="4400550" y="11430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4705350" y="1400175"/>
            <a:ext cx="342900" cy="342900"/>
          </a:xfrm>
          <a:prstGeom prst="ellipse">
            <a:avLst/>
          </a:prstGeom>
          <a:solidFill>
            <a:srgbClr val="498268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97504" y="14763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0655" y="13973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身体补给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45418" y="16854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喝水提醒 · 轻补给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65370" y="2074545"/>
            <a:ext cx="19025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饮水追踪 + 用药笔记 + 零食记录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39100" y="11430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EFAF5"/>
          </a:solidFill>
          <a:ln w="9525">
            <a:solidFill>
              <a:srgbClr val="E5D9C3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343900" y="1400175"/>
            <a:ext cx="342900" cy="342900"/>
          </a:xfrm>
          <a:prstGeom prst="ellipse">
            <a:avLst/>
          </a:prstGeom>
          <a:solidFill>
            <a:srgbClr val="F5973B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36054" y="14763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9205" y="13973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活动一下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83968" y="16854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久坐恢复 · 放松舒展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3920" y="2074545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起身提醒 + 呼吸引导 + 白噪音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27813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DF6F8"/>
          </a:solidFill>
          <a:ln w="9525">
            <a:solidFill>
              <a:srgbClr val="E5D9C3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1066800" y="3038475"/>
            <a:ext cx="342900" cy="342900"/>
          </a:xfrm>
          <a:prstGeom prst="ellipse">
            <a:avLst/>
          </a:prstGeom>
          <a:solidFill>
            <a:srgbClr val="D85C7E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58954" y="31146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💫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2105" y="30356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情绪安放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06868" y="33237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情绪照顾 · 温柔建议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6820" y="3712845"/>
            <a:ext cx="21654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树洞倾诉 + 情绪进食识别 + 安全检测</a:t>
            </a:r>
          </a:p>
        </p:txBody>
      </p:sp>
      <p:sp>
        <p:nvSpPr>
          <p:cNvPr id="29" name="Freeform 29"/>
          <p:cNvSpPr/>
          <p:nvPr/>
        </p:nvSpPr>
        <p:spPr>
          <a:xfrm>
            <a:off x="4400550" y="27813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4705350" y="3038475"/>
            <a:ext cx="342900" cy="342900"/>
          </a:xfrm>
          <a:prstGeom prst="ellipse">
            <a:avLst/>
          </a:prstGeom>
          <a:solidFill>
            <a:srgbClr val="6D9C83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97504" y="31146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40655" y="30356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今日回顾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45418" y="3323749"/>
            <a:ext cx="1185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日志记录 · 小成就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65370" y="3712845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睡眠记录 + 贴纸墙 + 温柔语录</a:t>
            </a:r>
          </a:p>
        </p:txBody>
      </p:sp>
      <p:sp>
        <p:nvSpPr>
          <p:cNvPr id="35" name="Freeform 35"/>
          <p:cNvSpPr/>
          <p:nvPr/>
        </p:nvSpPr>
        <p:spPr>
          <a:xfrm>
            <a:off x="8039100" y="2781300"/>
            <a:ext cx="3381375" cy="1409700"/>
          </a:xfrm>
          <a:custGeom>
            <a:avLst/>
            <a:gdLst/>
            <a:ahLst/>
            <a:cxnLst/>
            <a:rect l="l" t="t" r="r" b="b"/>
            <a:pathLst>
              <a:path w="3381375" h="1409700">
                <a:moveTo>
                  <a:pt x="133350" y="0"/>
                </a:moveTo>
                <a:lnTo>
                  <a:pt x="3248025" y="0"/>
                </a:lnTo>
                <a:cubicBezTo>
                  <a:pt x="3321672" y="0"/>
                  <a:pt x="3381375" y="59703"/>
                  <a:pt x="3381375" y="133350"/>
                </a:cubicBezTo>
                <a:lnTo>
                  <a:pt x="3381375" y="1276350"/>
                </a:lnTo>
                <a:cubicBezTo>
                  <a:pt x="3381375" y="1349997"/>
                  <a:pt x="3321672" y="1409700"/>
                  <a:pt x="3248025" y="1409700"/>
                </a:cubicBezTo>
                <a:lnTo>
                  <a:pt x="133350" y="1409700"/>
                </a:lnTo>
                <a:cubicBezTo>
                  <a:pt x="59703" y="1409700"/>
                  <a:pt x="0" y="1349997"/>
                  <a:pt x="0" y="1276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8343900" y="3038475"/>
            <a:ext cx="342900" cy="342900"/>
          </a:xfrm>
          <a:prstGeom prst="ellipse">
            <a:avLst/>
          </a:prstGeom>
          <a:solidFill>
            <a:srgbClr val="498268">
              <a:alpha val="1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36054" y="31146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📊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79205" y="30356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数据洞察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83968" y="332374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趋势可视化 · 健康快照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03920" y="3712845"/>
            <a:ext cx="16593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热力图 + 情绪趋势 + AI 周报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8120" y="4839652"/>
            <a:ext cx="3415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从"今日照顾"入口，六大模块温柔串联你的每一天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05 / 17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7625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541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2550" y="404812"/>
            <a:ext cx="459446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今日照顾 — 一切从这一页开始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810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9540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69682" y="1253014"/>
            <a:ext cx="10393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AI 温柔问候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" y="1505902"/>
            <a:ext cx="35844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根据清晨/上午/午后/傍晚/深夜自动切换语气和内容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009775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69682" y="19673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猫猫陪伴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" y="2220278"/>
            <a:ext cx="35921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桌面端 SVG 猫咪，喝水时开心跳动，久坐时提醒起身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72415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69682" y="2681764"/>
            <a:ext cx="1097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五种 AI 语气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540" y="2934652"/>
            <a:ext cx="3032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朋友式 / 安静式 / 鼓励式 / 诗意式 / 陪伴式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438525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69682" y="3396139"/>
            <a:ext cx="2016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自定义提醒 + 天气展示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2540" y="3649028"/>
            <a:ext cx="31780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可自定义喝水/起身提醒语，右上角天气小部件</a:t>
            </a:r>
          </a:p>
        </p:txBody>
      </p:sp>
      <p:sp>
        <p:nvSpPr>
          <p:cNvPr id="19" name="Freeform 19"/>
          <p:cNvSpPr/>
          <p:nvPr/>
        </p:nvSpPr>
        <p:spPr>
          <a:xfrm>
            <a:off x="6858000" y="1143000"/>
            <a:ext cx="1905000" cy="3524250"/>
          </a:xfrm>
          <a:custGeom>
            <a:avLst/>
            <a:gdLst/>
            <a:ahLst/>
            <a:cxnLst/>
            <a:rect l="l" t="t" r="r" b="b"/>
            <a:pathLst>
              <a:path w="1905000" h="3524250">
                <a:moveTo>
                  <a:pt x="171450" y="0"/>
                </a:moveTo>
                <a:lnTo>
                  <a:pt x="1733550" y="0"/>
                </a:lnTo>
                <a:cubicBezTo>
                  <a:pt x="1828239" y="0"/>
                  <a:pt x="1905000" y="76761"/>
                  <a:pt x="1905000" y="171450"/>
                </a:cubicBezTo>
                <a:lnTo>
                  <a:pt x="1905000" y="3352800"/>
                </a:lnTo>
                <a:cubicBezTo>
                  <a:pt x="1905000" y="3447489"/>
                  <a:pt x="1828239" y="3524250"/>
                  <a:pt x="1733550" y="3524250"/>
                </a:cubicBezTo>
                <a:lnTo>
                  <a:pt x="171450" y="3524250"/>
                </a:lnTo>
                <a:cubicBezTo>
                  <a:pt x="76761" y="3524250"/>
                  <a:pt x="0" y="3447489"/>
                  <a:pt x="0" y="3352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/>
          <a:ln w="19050">
            <a:solidFill>
              <a:srgbClr val="E5D9C3"/>
            </a:solidFill>
            <a:prstDash val="lgDash"/>
          </a:ln>
        </p:spPr>
      </p:sp>
      <p:sp>
        <p:nvSpPr>
          <p:cNvPr id="20" name="Freeform 20"/>
          <p:cNvSpPr/>
          <p:nvPr/>
        </p:nvSpPr>
        <p:spPr>
          <a:xfrm>
            <a:off x="7048500" y="1524000"/>
            <a:ext cx="1524000" cy="2857500"/>
          </a:xfrm>
          <a:custGeom>
            <a:avLst/>
            <a:gdLst/>
            <a:ahLst/>
            <a:cxnLst/>
            <a:rect l="l" t="t" r="r" b="b"/>
            <a:pathLst>
              <a:path w="1524000" h="28575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2781300"/>
                </a:lnTo>
                <a:cubicBezTo>
                  <a:pt x="1524000" y="2823384"/>
                  <a:pt x="1489884" y="2857500"/>
                  <a:pt x="1447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370921" y="2942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应用首页截图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0316" y="5046345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← 截图占位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4286250"/>
            <a:ext cx="714375" cy="247650"/>
          </a:xfrm>
          <a:custGeom>
            <a:avLst/>
            <a:gdLst/>
            <a:ahLst/>
            <a:cxnLst/>
            <a:rect l="l" t="t" r="r" b="b"/>
            <a:pathLst>
              <a:path w="714375" h="247650">
                <a:moveTo>
                  <a:pt x="123825" y="0"/>
                </a:moveTo>
                <a:lnTo>
                  <a:pt x="590550" y="0"/>
                </a:lnTo>
                <a:cubicBezTo>
                  <a:pt x="658937" y="0"/>
                  <a:pt x="714375" y="55438"/>
                  <a:pt x="714375" y="123825"/>
                </a:cubicBezTo>
                <a:lnTo>
                  <a:pt x="714375" y="123825"/>
                </a:lnTo>
                <a:cubicBezTo>
                  <a:pt x="714375" y="192212"/>
                  <a:pt x="658937" y="247650"/>
                  <a:pt x="590550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40105" y="4360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时段感知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71625" y="4286250"/>
            <a:ext cx="714375" cy="247650"/>
          </a:xfrm>
          <a:custGeom>
            <a:avLst/>
            <a:gdLst/>
            <a:ahLst/>
            <a:cxnLst/>
            <a:rect l="l" t="t" r="r" b="b"/>
            <a:pathLst>
              <a:path w="714375" h="247650">
                <a:moveTo>
                  <a:pt x="123825" y="0"/>
                </a:moveTo>
                <a:lnTo>
                  <a:pt x="590550" y="0"/>
                </a:lnTo>
                <a:cubicBezTo>
                  <a:pt x="658937" y="0"/>
                  <a:pt x="714375" y="55438"/>
                  <a:pt x="714375" y="123825"/>
                </a:cubicBezTo>
                <a:lnTo>
                  <a:pt x="714375" y="123825"/>
                </a:lnTo>
                <a:cubicBezTo>
                  <a:pt x="714375" y="192212"/>
                  <a:pt x="658937" y="247650"/>
                  <a:pt x="590550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649730" y="4360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天气粒子</a:t>
            </a:r>
          </a:p>
        </p:txBody>
      </p:sp>
      <p:sp>
        <p:nvSpPr>
          <p:cNvPr id="27" name="Freeform 27"/>
          <p:cNvSpPr/>
          <p:nvPr/>
        </p:nvSpPr>
        <p:spPr>
          <a:xfrm>
            <a:off x="2381250" y="4286250"/>
            <a:ext cx="714375" cy="247650"/>
          </a:xfrm>
          <a:custGeom>
            <a:avLst/>
            <a:gdLst/>
            <a:ahLst/>
            <a:cxnLst/>
            <a:rect l="l" t="t" r="r" b="b"/>
            <a:pathLst>
              <a:path w="714375" h="247650">
                <a:moveTo>
                  <a:pt x="123825" y="0"/>
                </a:moveTo>
                <a:lnTo>
                  <a:pt x="590550" y="0"/>
                </a:lnTo>
                <a:cubicBezTo>
                  <a:pt x="658937" y="0"/>
                  <a:pt x="714375" y="55438"/>
                  <a:pt x="714375" y="123825"/>
                </a:cubicBezTo>
                <a:lnTo>
                  <a:pt x="714375" y="123825"/>
                </a:lnTo>
                <a:cubicBezTo>
                  <a:pt x="714375" y="192212"/>
                  <a:pt x="658937" y="247650"/>
                  <a:pt x="590550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459355" y="4360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季节色温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06 / 17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7625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541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2550" y="404812"/>
            <a:ext cx="3904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身体补给 — 轻轻照顾身体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810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9540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69682" y="12530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喝水追踪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" y="1505902"/>
            <a:ext cx="3415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小口/半杯/整杯，三种水量记录，手动或提醒触发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009775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69682" y="19673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用药笔记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" y="2220278"/>
            <a:ext cx="40291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自定义药名、剂量、时间、重复规则（一次/每天/自定义）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7241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69682" y="2681764"/>
            <a:ext cx="9806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用药安全 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540" y="2934652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不提供药物建议，仅在用户设定时间温柔提醒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438525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69682" y="3396139"/>
            <a:ext cx="22124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生理周期追踪 + 零食记录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2540" y="3649028"/>
            <a:ext cx="2879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经期四阶段记录，emoji + 标签记录小零食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415290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69682" y="4110514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饮水热力图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540" y="4363402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按周/月查看饮水分布，一眼看懂补水模式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58000" y="1143000"/>
            <a:ext cx="1905000" cy="3524250"/>
          </a:xfrm>
          <a:custGeom>
            <a:avLst/>
            <a:gdLst/>
            <a:ahLst/>
            <a:cxnLst/>
            <a:rect l="l" t="t" r="r" b="b"/>
            <a:pathLst>
              <a:path w="1905000" h="3524250">
                <a:moveTo>
                  <a:pt x="171450" y="0"/>
                </a:moveTo>
                <a:lnTo>
                  <a:pt x="1733550" y="0"/>
                </a:lnTo>
                <a:cubicBezTo>
                  <a:pt x="1828239" y="0"/>
                  <a:pt x="1905000" y="76761"/>
                  <a:pt x="1905000" y="171450"/>
                </a:cubicBezTo>
                <a:lnTo>
                  <a:pt x="1905000" y="3352800"/>
                </a:lnTo>
                <a:cubicBezTo>
                  <a:pt x="1905000" y="3447489"/>
                  <a:pt x="1828239" y="3524250"/>
                  <a:pt x="1733550" y="3524250"/>
                </a:cubicBezTo>
                <a:lnTo>
                  <a:pt x="171450" y="3524250"/>
                </a:lnTo>
                <a:cubicBezTo>
                  <a:pt x="76761" y="3524250"/>
                  <a:pt x="0" y="3447489"/>
                  <a:pt x="0" y="3352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/>
          <a:ln w="19050">
            <a:solidFill>
              <a:srgbClr val="E5D9C3"/>
            </a:solidFill>
            <a:prstDash val="lgDash"/>
          </a:ln>
        </p:spPr>
      </p:sp>
      <p:sp>
        <p:nvSpPr>
          <p:cNvPr id="23" name="Freeform 23"/>
          <p:cNvSpPr/>
          <p:nvPr/>
        </p:nvSpPr>
        <p:spPr>
          <a:xfrm>
            <a:off x="7048500" y="1524000"/>
            <a:ext cx="1524000" cy="2857500"/>
          </a:xfrm>
          <a:custGeom>
            <a:avLst/>
            <a:gdLst/>
            <a:ahLst/>
            <a:cxnLst/>
            <a:rect l="l" t="t" r="r" b="b"/>
            <a:pathLst>
              <a:path w="1524000" h="28575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2781300"/>
                </a:lnTo>
                <a:cubicBezTo>
                  <a:pt x="1524000" y="2823384"/>
                  <a:pt x="1489884" y="2857500"/>
                  <a:pt x="1447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452801" y="294274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水杯动画 +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70921" y="31522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用药卡片截图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0316" y="5046345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← 截图占位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5048250"/>
            <a:ext cx="38100" cy="476250"/>
          </a:xfrm>
          <a:custGeom>
            <a:avLst/>
            <a:gdLst/>
            <a:ahLst/>
            <a:cxnLst/>
            <a:rect l="l" t="t" r="r" b="b"/>
            <a:pathLst>
              <a:path w="38100" h="4762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457200"/>
                </a:lnTo>
                <a:cubicBezTo>
                  <a:pt x="38100" y="467721"/>
                  <a:pt x="29571" y="476250"/>
                  <a:pt x="19050" y="476250"/>
                </a:cubicBezTo>
                <a:lnTo>
                  <a:pt x="19050" y="476250"/>
                </a:lnTo>
                <a:cubicBezTo>
                  <a:pt x="8529" y="476250"/>
                  <a:pt x="0" y="467721"/>
                  <a:pt x="0" y="457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73B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762000" y="5048250"/>
            <a:ext cx="5715000" cy="476250"/>
          </a:xfrm>
          <a:custGeom>
            <a:avLst/>
            <a:gdLst/>
            <a:ahLst/>
            <a:cxnLst/>
            <a:rect l="l" t="t" r="r" b="b"/>
            <a:pathLst>
              <a:path w="5715000" h="47625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400050"/>
                </a:lnTo>
                <a:cubicBezTo>
                  <a:pt x="5715000" y="442134"/>
                  <a:pt x="5680884" y="476250"/>
                  <a:pt x="5638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3E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5368" y="5228749"/>
            <a:ext cx="6268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5018"/>
                </a:solidFill>
                <a:latin typeface="Arial"/>
                <a:ea typeface="Microsoft YaHei"/>
                <a:cs typeface="Arial"/>
              </a:rPr>
              <a:t>⚠ 本产品不提供药物建议，仅在用户设定时间提醒。所有数据存储在本地 IndexedDB，不上传云端。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07 / 17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7625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97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541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2550" y="404812"/>
            <a:ext cx="528455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活动一下 — 从久坐里把自己捞出来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810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F5973B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95400"/>
            <a:ext cx="76200" cy="762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69682" y="12530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久坐起身提醒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" y="1505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检测久坐时间，超过阈值温柔提醒 + 猫猫同步动画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009775"/>
            <a:ext cx="76200" cy="762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69682" y="1967389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散步计时器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" y="2220278"/>
            <a:ext cx="25033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自定义散步时长，倒计时 + 完成鼓励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724150"/>
            <a:ext cx="76200" cy="762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69682" y="268176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微运动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540" y="2934652"/>
            <a:ext cx="3599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颈部/眼睛/手腕/背部/全身，每次仅需 30 秒−2 分钟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438525"/>
            <a:ext cx="76200" cy="762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69682" y="3396139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睡前呼吸引导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2540" y="3649028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4-2-6 呼吸法 + SVG 圆环动画引导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4152900"/>
            <a:ext cx="76200" cy="762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69682" y="4110514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白噪音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540" y="43634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内置白噪音播放，辅助专注或放松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58000" y="1143000"/>
            <a:ext cx="1905000" cy="3524250"/>
          </a:xfrm>
          <a:custGeom>
            <a:avLst/>
            <a:gdLst/>
            <a:ahLst/>
            <a:cxnLst/>
            <a:rect l="l" t="t" r="r" b="b"/>
            <a:pathLst>
              <a:path w="1905000" h="3524250">
                <a:moveTo>
                  <a:pt x="171450" y="0"/>
                </a:moveTo>
                <a:lnTo>
                  <a:pt x="1733550" y="0"/>
                </a:lnTo>
                <a:cubicBezTo>
                  <a:pt x="1828239" y="0"/>
                  <a:pt x="1905000" y="76761"/>
                  <a:pt x="1905000" y="171450"/>
                </a:cubicBezTo>
                <a:lnTo>
                  <a:pt x="1905000" y="3352800"/>
                </a:lnTo>
                <a:cubicBezTo>
                  <a:pt x="1905000" y="3447489"/>
                  <a:pt x="1828239" y="3524250"/>
                  <a:pt x="1733550" y="3524250"/>
                </a:cubicBezTo>
                <a:lnTo>
                  <a:pt x="171450" y="3524250"/>
                </a:lnTo>
                <a:cubicBezTo>
                  <a:pt x="76761" y="3524250"/>
                  <a:pt x="0" y="3447489"/>
                  <a:pt x="0" y="3352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/>
          <a:ln w="19050">
            <a:solidFill>
              <a:srgbClr val="E5D9C3"/>
            </a:solidFill>
            <a:prstDash val="lgDash"/>
          </a:ln>
        </p:spPr>
      </p:sp>
      <p:sp>
        <p:nvSpPr>
          <p:cNvPr id="23" name="Freeform 23"/>
          <p:cNvSpPr/>
          <p:nvPr/>
        </p:nvSpPr>
        <p:spPr>
          <a:xfrm>
            <a:off x="7048500" y="1524000"/>
            <a:ext cx="1524000" cy="2857500"/>
          </a:xfrm>
          <a:custGeom>
            <a:avLst/>
            <a:gdLst/>
            <a:ahLst/>
            <a:cxnLst/>
            <a:rect l="l" t="t" r="r" b="b"/>
            <a:pathLst>
              <a:path w="1524000" h="28575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2781300"/>
                </a:lnTo>
                <a:cubicBezTo>
                  <a:pt x="1524000" y="2823384"/>
                  <a:pt x="1489884" y="2857500"/>
                  <a:pt x="1447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513320" y="29427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呼吸圆环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13320" y="31522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动画截图</a:t>
            </a:r>
          </a:p>
        </p:txBody>
      </p:sp>
      <p:sp>
        <p:nvSpPr>
          <p:cNvPr id="26" name="Freeform 26"/>
          <p:cNvSpPr/>
          <p:nvPr/>
        </p:nvSpPr>
        <p:spPr>
          <a:xfrm>
            <a:off x="6858000" y="4953000"/>
            <a:ext cx="2667000" cy="476250"/>
          </a:xfrm>
          <a:custGeom>
            <a:avLst/>
            <a:gdLst/>
            <a:ahLst/>
            <a:cxnLst/>
            <a:rect l="l" t="t" r="r" b="b"/>
            <a:pathLst>
              <a:path w="2667000" h="47625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381000"/>
                </a:lnTo>
                <a:cubicBezTo>
                  <a:pt x="2667000" y="433605"/>
                  <a:pt x="2624355" y="476250"/>
                  <a:pt x="2571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EFAF5"/>
          </a:solidFill>
          <a:ln w="9525">
            <a:solidFill>
              <a:srgbClr val="F5973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04866" y="5117306"/>
            <a:ext cx="25732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吸气 4 秒 → 停留 2 秒 → 呼气 6 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08 / 17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28625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49339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4455" y="373380"/>
            <a:ext cx="68644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情绪安放 — 先接住感受，再慢慢决定要不要行动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429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001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635" y="11658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情绪性进食识别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3492" y="13996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选择情绪标签（10种）+ 饥饿等级 → AI 温柔建议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18478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0635" y="18135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情绪树洞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3492" y="2047399"/>
            <a:ext cx="39122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自由书写，支持语音输入（Web Speech API），AI 温柔不评判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4955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0635" y="2461260"/>
            <a:ext cx="922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危机检测 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92" y="2695099"/>
            <a:ext cx="3969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识别自杀/自伤等紧急表述 → 自动引导拨打 120 或心理援助热线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1432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0635" y="3108960"/>
            <a:ext cx="9781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AI 安全管线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3492" y="3342799"/>
            <a:ext cx="276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三层过滤：输入检测 → 输出过滤 → XSS 防护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3790950"/>
            <a:ext cx="76200" cy="762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70635" y="37566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温柔语录收藏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3492" y="3990499"/>
            <a:ext cx="17976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把 AI 感动瞬间收藏，可回看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4476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762000" y="4476750"/>
            <a:ext cx="5715000" cy="571500"/>
          </a:xfrm>
          <a:custGeom>
            <a:avLst/>
            <a:gdLst/>
            <a:ahLst/>
            <a:cxnLst/>
            <a:rect l="l" t="t" r="r" b="b"/>
            <a:pathLst>
              <a:path w="5715000" h="571500">
                <a:moveTo>
                  <a:pt x="952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476250"/>
                </a:lnTo>
                <a:cubicBezTo>
                  <a:pt x="5715000" y="528855"/>
                  <a:pt x="5672355" y="571500"/>
                  <a:pt x="5619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DF6F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33462" y="4602956"/>
            <a:ext cx="8653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安全设计 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368" y="4828699"/>
            <a:ext cx="57776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2263A"/>
                </a:solidFill>
                <a:latin typeface="Arial"/>
                <a:ea typeface="Microsoft YaHei"/>
                <a:cs typeface="Arial"/>
              </a:rPr>
              <a:t>三层安全管线：输入检测 → 输出过滤 → XSS 防护。紧急情况不调用 AI，直接返回安全引导。</a:t>
            </a:r>
          </a:p>
        </p:txBody>
      </p:sp>
      <p:sp>
        <p:nvSpPr>
          <p:cNvPr id="26" name="Freeform 26"/>
          <p:cNvSpPr/>
          <p:nvPr/>
        </p:nvSpPr>
        <p:spPr>
          <a:xfrm>
            <a:off x="6858000" y="1143000"/>
            <a:ext cx="1905000" cy="3524250"/>
          </a:xfrm>
          <a:custGeom>
            <a:avLst/>
            <a:gdLst/>
            <a:ahLst/>
            <a:cxnLst/>
            <a:rect l="l" t="t" r="r" b="b"/>
            <a:pathLst>
              <a:path w="1905000" h="3524250">
                <a:moveTo>
                  <a:pt x="171450" y="0"/>
                </a:moveTo>
                <a:lnTo>
                  <a:pt x="1733550" y="0"/>
                </a:lnTo>
                <a:cubicBezTo>
                  <a:pt x="1828239" y="0"/>
                  <a:pt x="1905000" y="76761"/>
                  <a:pt x="1905000" y="171450"/>
                </a:cubicBezTo>
                <a:lnTo>
                  <a:pt x="1905000" y="3352800"/>
                </a:lnTo>
                <a:cubicBezTo>
                  <a:pt x="1905000" y="3447489"/>
                  <a:pt x="1828239" y="3524250"/>
                  <a:pt x="1733550" y="3524250"/>
                </a:cubicBezTo>
                <a:lnTo>
                  <a:pt x="171450" y="3524250"/>
                </a:lnTo>
                <a:cubicBezTo>
                  <a:pt x="76761" y="3524250"/>
                  <a:pt x="0" y="3447489"/>
                  <a:pt x="0" y="3352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/>
          <a:ln w="19050">
            <a:solidFill>
              <a:srgbClr val="E5D9C3"/>
            </a:solidFill>
            <a:prstDash val="lgDash"/>
          </a:ln>
        </p:spPr>
      </p:sp>
      <p:sp>
        <p:nvSpPr>
          <p:cNvPr id="27" name="Freeform 27"/>
          <p:cNvSpPr/>
          <p:nvPr/>
        </p:nvSpPr>
        <p:spPr>
          <a:xfrm>
            <a:off x="7048500" y="1524000"/>
            <a:ext cx="1524000" cy="2857500"/>
          </a:xfrm>
          <a:custGeom>
            <a:avLst/>
            <a:gdLst/>
            <a:ahLst/>
            <a:cxnLst/>
            <a:rect l="l" t="t" r="r" b="b"/>
            <a:pathLst>
              <a:path w="1524000" h="28575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2781300"/>
                </a:lnTo>
                <a:cubicBezTo>
                  <a:pt x="1524000" y="2823384"/>
                  <a:pt x="1489884" y="2857500"/>
                  <a:pt x="1447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513320" y="28951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情绪树洞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3320" y="31332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界面截图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6500" y="657844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09 / 17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7625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541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2550" y="404812"/>
            <a:ext cx="562959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今日回顾 — 把照顾自己的瞬间收起来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810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95400"/>
            <a:ext cx="76200" cy="76200"/>
          </a:xfrm>
          <a:prstGeom prst="ellipse">
            <a:avLst/>
          </a:prstGeom>
          <a:solidFill>
            <a:srgbClr val="6D9C8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69682" y="12530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睡眠记录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2540" y="1505902"/>
            <a:ext cx="25263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记录昨晚睡眠质量（好 / 一般 / 差）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009775"/>
            <a:ext cx="76200" cy="76200"/>
          </a:xfrm>
          <a:prstGeom prst="ellipse">
            <a:avLst/>
          </a:prstGeom>
          <a:solidFill>
            <a:srgbClr val="6D9C8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69682" y="19673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每日总结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540" y="2220278"/>
            <a:ext cx="24266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喝水/起身/情绪/呼吸四项汇总统计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724150"/>
            <a:ext cx="76200" cy="76200"/>
          </a:xfrm>
          <a:prstGeom prst="ellipse">
            <a:avLst/>
          </a:prstGeom>
          <a:solidFill>
            <a:srgbClr val="6D9C8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69682" y="268176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每日日记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540" y="29346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一句话日记，跨日自动清空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438525"/>
            <a:ext cx="76200" cy="76200"/>
          </a:xfrm>
          <a:prstGeom prst="ellipse">
            <a:avLst/>
          </a:prstGeom>
          <a:solidFill>
            <a:srgbClr val="6D9C8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69682" y="3396139"/>
            <a:ext cx="10100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成就贴纸墙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2540" y="3649028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完成行为获得小贴纸（6 种）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4152900"/>
            <a:ext cx="76200" cy="76200"/>
          </a:xfrm>
          <a:prstGeom prst="ellipse">
            <a:avLst/>
          </a:prstGeom>
          <a:solidFill>
            <a:srgbClr val="6D9C8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69682" y="41105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温柔语录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540" y="4363402"/>
            <a:ext cx="2089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展示和收藏 AI 生成的温柔短句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29462" y="11168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成就贴纸展示</a:t>
            </a:r>
          </a:p>
        </p:txBody>
      </p:sp>
      <p:sp>
        <p:nvSpPr>
          <p:cNvPr id="23" name="Freeform 23"/>
          <p:cNvSpPr/>
          <p:nvPr/>
        </p:nvSpPr>
        <p:spPr>
          <a:xfrm>
            <a:off x="6953250" y="142875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366111" y="15640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85911" y="205406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小水滴</a:t>
            </a:r>
          </a:p>
        </p:txBody>
      </p:sp>
      <p:sp>
        <p:nvSpPr>
          <p:cNvPr id="26" name="Freeform 26"/>
          <p:cNvSpPr/>
          <p:nvPr/>
        </p:nvSpPr>
        <p:spPr>
          <a:xfrm>
            <a:off x="8143875" y="142875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6736" y="15640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16290" y="20540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离开椅子</a:t>
            </a:r>
          </a:p>
        </p:txBody>
      </p:sp>
      <p:sp>
        <p:nvSpPr>
          <p:cNvPr id="29" name="Freeform 29"/>
          <p:cNvSpPr/>
          <p:nvPr/>
        </p:nvSpPr>
        <p:spPr>
          <a:xfrm>
            <a:off x="9334500" y="142875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747361" y="15640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67161" y="205406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暂停键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953250" y="247650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366111" y="26117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85911" y="31018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小月亮</a:t>
            </a:r>
          </a:p>
        </p:txBody>
      </p:sp>
      <p:sp>
        <p:nvSpPr>
          <p:cNvPr id="35" name="Freeform 35"/>
          <p:cNvSpPr/>
          <p:nvPr/>
        </p:nvSpPr>
        <p:spPr>
          <a:xfrm>
            <a:off x="8143875" y="247650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56736" y="26117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76536" y="31018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小纸条</a:t>
            </a:r>
          </a:p>
        </p:txBody>
      </p:sp>
      <p:sp>
        <p:nvSpPr>
          <p:cNvPr id="38" name="Freeform 38"/>
          <p:cNvSpPr/>
          <p:nvPr/>
        </p:nvSpPr>
        <p:spPr>
          <a:xfrm>
            <a:off x="9334500" y="2476500"/>
            <a:ext cx="1047750" cy="904875"/>
          </a:xfrm>
          <a:custGeom>
            <a:avLst/>
            <a:gdLst/>
            <a:ahLst/>
            <a:cxnLst/>
            <a:rect l="l" t="t" r="r" b="b"/>
            <a:pathLst>
              <a:path w="1047750" h="904875">
                <a:moveTo>
                  <a:pt x="114300" y="0"/>
                </a:moveTo>
                <a:lnTo>
                  <a:pt x="933450" y="0"/>
                </a:lnTo>
                <a:cubicBezTo>
                  <a:pt x="996576" y="0"/>
                  <a:pt x="1047750" y="51174"/>
                  <a:pt x="1047750" y="114300"/>
                </a:cubicBezTo>
                <a:lnTo>
                  <a:pt x="1047750" y="790575"/>
                </a:lnTo>
                <a:cubicBezTo>
                  <a:pt x="1047750" y="853701"/>
                  <a:pt x="996576" y="904875"/>
                  <a:pt x="933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747361" y="26117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🌿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67161" y="31018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舒展叶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10 / 17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428625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114300" y="0"/>
                </a:moveTo>
                <a:lnTo>
                  <a:pt x="361950" y="0"/>
                </a:lnTo>
                <a:cubicBezTo>
                  <a:pt x="425076" y="0"/>
                  <a:pt x="476250" y="51174"/>
                  <a:pt x="476250" y="114300"/>
                </a:cubicBezTo>
                <a:lnTo>
                  <a:pt x="476250" y="114300"/>
                </a:lnTo>
                <a:cubicBezTo>
                  <a:pt x="476250" y="177426"/>
                  <a:pt x="425076" y="228600"/>
                  <a:pt x="361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91528" y="49339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模块六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2550" y="357188"/>
            <a:ext cx="528455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数据洞察 — 温柔地看见自己的痕迹</a:t>
            </a:r>
          </a:p>
        </p:txBody>
      </p:sp>
      <p:sp>
        <p:nvSpPr>
          <p:cNvPr id="6" name="Freeform 6"/>
          <p:cNvSpPr/>
          <p:nvPr/>
        </p:nvSpPr>
        <p:spPr>
          <a:xfrm>
            <a:off x="1381125" y="74295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57275" y="120015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635" y="11658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喝水热力图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3492" y="1399699"/>
            <a:ext cx="26662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按周/月展示饮水分布，一眼看懂补水模式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186690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0635" y="18326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情绪趋势图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3492" y="2066449"/>
            <a:ext cx="1932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7 天 / 30 天情绪标签变化趋势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53365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0635" y="24993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健康快照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92" y="273319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当日四项指标汇总卡片，一键导出为图片分享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20040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0635" y="3166110"/>
            <a:ext cx="6101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AI 周报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3492" y="339994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温柔的语气总结一周自我照顾，不是冷冰冰的报告</a:t>
            </a:r>
          </a:p>
        </p:txBody>
      </p:sp>
      <p:sp>
        <p:nvSpPr>
          <p:cNvPr id="19" name="Ellipse 19"/>
          <p:cNvSpPr/>
          <p:nvPr/>
        </p:nvSpPr>
        <p:spPr>
          <a:xfrm>
            <a:off x="1057275" y="3867150"/>
            <a:ext cx="76200" cy="762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70635" y="3832860"/>
            <a:ext cx="20823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饮食模式洞察 + 趋势预测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3492" y="4066699"/>
            <a:ext cx="2894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AI 分析进食模式，基于历史数据生成趋势提醒</a:t>
            </a:r>
          </a:p>
        </p:txBody>
      </p:sp>
      <p:sp>
        <p:nvSpPr>
          <p:cNvPr id="22" name="Freeform 22"/>
          <p:cNvSpPr/>
          <p:nvPr/>
        </p:nvSpPr>
        <p:spPr>
          <a:xfrm>
            <a:off x="6953250" y="1143000"/>
            <a:ext cx="2095500" cy="1238250"/>
          </a:xfrm>
          <a:custGeom>
            <a:avLst/>
            <a:gdLst/>
            <a:ahLst/>
            <a:cxnLst/>
            <a:rect l="l" t="t" r="r" b="b"/>
            <a:pathLst>
              <a:path w="2095500" h="12382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123950"/>
                </a:lnTo>
                <a:cubicBezTo>
                  <a:pt x="2095500" y="1187076"/>
                  <a:pt x="2044326" y="1238250"/>
                  <a:pt x="1981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506510" y="13125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饮水热力图预览</a:t>
            </a:r>
          </a:p>
        </p:txBody>
      </p:sp>
      <p:sp>
        <p:nvSpPr>
          <p:cNvPr id="24" name="Freeform 24"/>
          <p:cNvSpPr/>
          <p:nvPr/>
        </p:nvSpPr>
        <p:spPr>
          <a:xfrm>
            <a:off x="723900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44855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D6CC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65810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BBBA8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786765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07720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828675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496300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D6CC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723900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D6CC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744855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765810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786765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807720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828675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8496300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BBBA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723900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744855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765810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BBBA8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786765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4D6CC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807720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828675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8496300" y="1962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9050" y="0"/>
                </a:moveTo>
                <a:lnTo>
                  <a:pt x="152400" y="0"/>
                </a:lnTo>
                <a:cubicBezTo>
                  <a:pt x="162921" y="0"/>
                  <a:pt x="171450" y="8529"/>
                  <a:pt x="171450" y="19050"/>
                </a:cubicBezTo>
                <a:lnTo>
                  <a:pt x="171450" y="152400"/>
                </a:lnTo>
                <a:cubicBezTo>
                  <a:pt x="171450" y="162921"/>
                  <a:pt x="162921" y="171450"/>
                  <a:pt x="152400" y="171450"/>
                </a:cubicBez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953250" y="257175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1504950"/>
                </a:lnTo>
                <a:cubicBezTo>
                  <a:pt x="2095500" y="1568076"/>
                  <a:pt x="2044326" y="1619250"/>
                  <a:pt x="198120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575518" y="27603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今日健康快照</a:t>
            </a:r>
          </a:p>
        </p:txBody>
      </p:sp>
      <p:sp>
        <p:nvSpPr>
          <p:cNvPr id="47" name="Freeform 47"/>
          <p:cNvSpPr/>
          <p:nvPr/>
        </p:nvSpPr>
        <p:spPr>
          <a:xfrm>
            <a:off x="7143750" y="3000375"/>
            <a:ext cx="809625" cy="381000"/>
          </a:xfrm>
          <a:custGeom>
            <a:avLst/>
            <a:gdLst/>
            <a:ahLst/>
            <a:cxnLst/>
            <a:rect l="l" t="t" r="r" b="b"/>
            <a:pathLst>
              <a:path w="809625" h="381000">
                <a:moveTo>
                  <a:pt x="76200" y="0"/>
                </a:moveTo>
                <a:lnTo>
                  <a:pt x="733425" y="0"/>
                </a:lnTo>
                <a:cubicBezTo>
                  <a:pt x="775509" y="0"/>
                  <a:pt x="809625" y="34116"/>
                  <a:pt x="809625" y="76200"/>
                </a:cubicBezTo>
                <a:lnTo>
                  <a:pt x="809625" y="304800"/>
                </a:lnTo>
                <a:cubicBezTo>
                  <a:pt x="809625" y="346884"/>
                  <a:pt x="775509" y="381000"/>
                  <a:pt x="733425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8048625" y="3000375"/>
            <a:ext cx="809625" cy="381000"/>
          </a:xfrm>
          <a:custGeom>
            <a:avLst/>
            <a:gdLst/>
            <a:ahLst/>
            <a:cxnLst/>
            <a:rect l="l" t="t" r="r" b="b"/>
            <a:pathLst>
              <a:path w="809625" h="381000">
                <a:moveTo>
                  <a:pt x="76200" y="0"/>
                </a:moveTo>
                <a:lnTo>
                  <a:pt x="733425" y="0"/>
                </a:lnTo>
                <a:cubicBezTo>
                  <a:pt x="775509" y="0"/>
                  <a:pt x="809625" y="34116"/>
                  <a:pt x="809625" y="76200"/>
                </a:cubicBezTo>
                <a:lnTo>
                  <a:pt x="809625" y="304800"/>
                </a:lnTo>
                <a:cubicBezTo>
                  <a:pt x="809625" y="346884"/>
                  <a:pt x="775509" y="381000"/>
                  <a:pt x="733425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AF5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7143750" y="3476625"/>
            <a:ext cx="809625" cy="381000"/>
          </a:xfrm>
          <a:custGeom>
            <a:avLst/>
            <a:gdLst/>
            <a:ahLst/>
            <a:cxnLst/>
            <a:rect l="l" t="t" r="r" b="b"/>
            <a:pathLst>
              <a:path w="809625" h="381000">
                <a:moveTo>
                  <a:pt x="76200" y="0"/>
                </a:moveTo>
                <a:lnTo>
                  <a:pt x="733425" y="0"/>
                </a:lnTo>
                <a:cubicBezTo>
                  <a:pt x="775509" y="0"/>
                  <a:pt x="809625" y="34116"/>
                  <a:pt x="809625" y="76200"/>
                </a:cubicBezTo>
                <a:lnTo>
                  <a:pt x="809625" y="304800"/>
                </a:lnTo>
                <a:cubicBezTo>
                  <a:pt x="809625" y="346884"/>
                  <a:pt x="775509" y="381000"/>
                  <a:pt x="733425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DF6F8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8048625" y="3476625"/>
            <a:ext cx="809625" cy="381000"/>
          </a:xfrm>
          <a:custGeom>
            <a:avLst/>
            <a:gdLst/>
            <a:ahLst/>
            <a:cxnLst/>
            <a:rect l="l" t="t" r="r" b="b"/>
            <a:pathLst>
              <a:path w="809625" h="381000">
                <a:moveTo>
                  <a:pt x="76200" y="0"/>
                </a:moveTo>
                <a:lnTo>
                  <a:pt x="733425" y="0"/>
                </a:lnTo>
                <a:cubicBezTo>
                  <a:pt x="775509" y="0"/>
                  <a:pt x="809625" y="34116"/>
                  <a:pt x="809625" y="76200"/>
                </a:cubicBezTo>
                <a:lnTo>
                  <a:pt x="809625" y="304800"/>
                </a:lnTo>
                <a:cubicBezTo>
                  <a:pt x="809625" y="346884"/>
                  <a:pt x="775509" y="381000"/>
                  <a:pt x="733425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402830" y="314801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💧 6次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07705" y="314801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🏃 3次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02830" y="3624262"/>
            <a:ext cx="2819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💫 2次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321397" y="3624262"/>
            <a:ext cx="2545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🌙 1次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35409" y="4934902"/>
            <a:ext cx="41211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i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" 不需要分析，不需要比较，只是看看这些天你的小痕迹。 "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96745" y="657844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11 / 17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376238"/>
            <a:ext cx="28174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技术栈与系统架构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809625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52500" y="1143000"/>
            <a:ext cx="5715000" cy="1047750"/>
          </a:xfrm>
          <a:custGeom>
            <a:avLst/>
            <a:gdLst/>
            <a:ahLst/>
            <a:cxnLst/>
            <a:rect l="l" t="t" r="r" b="b"/>
            <a:pathLst>
              <a:path w="5715000" h="104775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933450"/>
                </a:lnTo>
                <a:cubicBezTo>
                  <a:pt x="5715000" y="996576"/>
                  <a:pt x="5663826" y="1047750"/>
                  <a:pt x="5600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4F7F5"/>
          </a:solidFill>
          <a:ln w="19050">
            <a:solidFill>
              <a:srgbClr val="49826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1105" y="1330642"/>
            <a:ext cx="19285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PWA 应用层（前端）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915" y="1620202"/>
            <a:ext cx="54323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React 19 + TypeScript 6.0 · Tailwind CSS 4 · Framer Motion 12 · Zustand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38634" y="22831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9" name="Freeform 9"/>
          <p:cNvSpPr/>
          <p:nvPr/>
        </p:nvSpPr>
        <p:spPr>
          <a:xfrm>
            <a:off x="952500" y="2552700"/>
            <a:ext cx="5715000" cy="1047750"/>
          </a:xfrm>
          <a:custGeom>
            <a:avLst/>
            <a:gdLst/>
            <a:ahLst/>
            <a:cxnLst/>
            <a:rect l="l" t="t" r="r" b="b"/>
            <a:pathLst>
              <a:path w="5715000" h="104775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933450"/>
                </a:lnTo>
                <a:cubicBezTo>
                  <a:pt x="5715000" y="996576"/>
                  <a:pt x="5663826" y="1047750"/>
                  <a:pt x="5600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4ED"/>
          </a:solidFill>
          <a:ln w="19050">
            <a:solidFill>
              <a:srgbClr val="F5973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221105" y="27403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数据与服务层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4915" y="3029902"/>
            <a:ext cx="63064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Dexie.js IndexedDB（11 张表 · 12 版本迁移）· Service Worker 离线缓存 · Web Speech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38634" y="36928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3" name="Freeform 13"/>
          <p:cNvSpPr/>
          <p:nvPr/>
        </p:nvSpPr>
        <p:spPr>
          <a:xfrm>
            <a:off x="952500" y="3962400"/>
            <a:ext cx="5715000" cy="1047750"/>
          </a:xfrm>
          <a:custGeom>
            <a:avLst/>
            <a:gdLst/>
            <a:ahLst/>
            <a:cxnLst/>
            <a:rect l="l" t="t" r="r" b="b"/>
            <a:pathLst>
              <a:path w="5715000" h="1047750">
                <a:moveTo>
                  <a:pt x="114300" y="0"/>
                </a:moveTo>
                <a:lnTo>
                  <a:pt x="5600700" y="0"/>
                </a:lnTo>
                <a:cubicBezTo>
                  <a:pt x="5663826" y="0"/>
                  <a:pt x="5715000" y="51174"/>
                  <a:pt x="5715000" y="114300"/>
                </a:cubicBezTo>
                <a:lnTo>
                  <a:pt x="5715000" y="933450"/>
                </a:lnTo>
                <a:cubicBezTo>
                  <a:pt x="5715000" y="996576"/>
                  <a:pt x="5663826" y="1047750"/>
                  <a:pt x="5600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BEEF2"/>
          </a:solidFill>
          <a:ln w="19050">
            <a:solidFill>
              <a:srgbClr val="D85C7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221105" y="4150042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AI 后端（可选）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4915" y="4439602"/>
            <a:ext cx="49876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Hono 4 服务器（:8787）· 8 个 API 端点 · 三层安全管线 · Vite 代理转发</a:t>
            </a:r>
          </a:p>
        </p:txBody>
      </p:sp>
      <p:sp>
        <p:nvSpPr>
          <p:cNvPr id="16" name="Freeform 16"/>
          <p:cNvSpPr/>
          <p:nvPr/>
        </p:nvSpPr>
        <p:spPr>
          <a:xfrm>
            <a:off x="7429500" y="1143000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152400" y="0"/>
                </a:moveTo>
                <a:lnTo>
                  <a:pt x="800100" y="0"/>
                </a:lnTo>
                <a:cubicBezTo>
                  <a:pt x="884268" y="0"/>
                  <a:pt x="952500" y="68232"/>
                  <a:pt x="952500" y="152400"/>
                </a:cubicBezTo>
                <a:lnTo>
                  <a:pt x="952500" y="152400"/>
                </a:lnTo>
                <a:cubicBezTo>
                  <a:pt x="952500" y="236568"/>
                  <a:pt x="884268" y="304800"/>
                  <a:pt x="8001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615690" y="1237774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React 19</a:t>
            </a:r>
          </a:p>
        </p:txBody>
      </p:sp>
      <p:sp>
        <p:nvSpPr>
          <p:cNvPr id="18" name="Freeform 18"/>
          <p:cNvSpPr/>
          <p:nvPr/>
        </p:nvSpPr>
        <p:spPr>
          <a:xfrm>
            <a:off x="8524875" y="11430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152400" y="0"/>
                </a:moveTo>
                <a:lnTo>
                  <a:pt x="895350" y="0"/>
                </a:lnTo>
                <a:cubicBezTo>
                  <a:pt x="979518" y="0"/>
                  <a:pt x="1047750" y="68232"/>
                  <a:pt x="1047750" y="152400"/>
                </a:cubicBezTo>
                <a:lnTo>
                  <a:pt x="1047750" y="152400"/>
                </a:lnTo>
                <a:cubicBezTo>
                  <a:pt x="1047750" y="236568"/>
                  <a:pt x="979518" y="304800"/>
                  <a:pt x="89535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02051" y="1237774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TypeScript 6</a:t>
            </a:r>
          </a:p>
        </p:txBody>
      </p:sp>
      <p:sp>
        <p:nvSpPr>
          <p:cNvPr id="20" name="Freeform 20"/>
          <p:cNvSpPr/>
          <p:nvPr/>
        </p:nvSpPr>
        <p:spPr>
          <a:xfrm>
            <a:off x="7429500" y="1571625"/>
            <a:ext cx="857250" cy="304800"/>
          </a:xfrm>
          <a:custGeom>
            <a:avLst/>
            <a:gdLst/>
            <a:ahLst/>
            <a:cxnLst/>
            <a:rect l="l" t="t" r="r" b="b"/>
            <a:pathLst>
              <a:path w="857250" h="304800">
                <a:moveTo>
                  <a:pt x="152400" y="0"/>
                </a:moveTo>
                <a:lnTo>
                  <a:pt x="704850" y="0"/>
                </a:lnTo>
                <a:cubicBezTo>
                  <a:pt x="789018" y="0"/>
                  <a:pt x="857250" y="68232"/>
                  <a:pt x="857250" y="152400"/>
                </a:cubicBezTo>
                <a:lnTo>
                  <a:pt x="857250" y="152400"/>
                </a:lnTo>
                <a:cubicBezTo>
                  <a:pt x="857250" y="236568"/>
                  <a:pt x="789018" y="304800"/>
                  <a:pt x="70485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646384" y="1666399"/>
            <a:ext cx="423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Vite 8</a:t>
            </a:r>
          </a:p>
        </p:txBody>
      </p:sp>
      <p:sp>
        <p:nvSpPr>
          <p:cNvPr id="22" name="Freeform 22"/>
          <p:cNvSpPr/>
          <p:nvPr/>
        </p:nvSpPr>
        <p:spPr>
          <a:xfrm>
            <a:off x="8429625" y="1571625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152400" y="0"/>
                </a:moveTo>
                <a:lnTo>
                  <a:pt x="800100" y="0"/>
                </a:lnTo>
                <a:cubicBezTo>
                  <a:pt x="884268" y="0"/>
                  <a:pt x="952500" y="68232"/>
                  <a:pt x="952500" y="152400"/>
                </a:cubicBezTo>
                <a:lnTo>
                  <a:pt x="952500" y="152400"/>
                </a:lnTo>
                <a:cubicBezTo>
                  <a:pt x="952500" y="236568"/>
                  <a:pt x="884268" y="304800"/>
                  <a:pt x="8001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558855" y="166639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Tailwind 4</a:t>
            </a:r>
          </a:p>
        </p:txBody>
      </p:sp>
      <p:sp>
        <p:nvSpPr>
          <p:cNvPr id="24" name="Freeform 24"/>
          <p:cNvSpPr/>
          <p:nvPr/>
        </p:nvSpPr>
        <p:spPr>
          <a:xfrm>
            <a:off x="7429500" y="2000250"/>
            <a:ext cx="1238250" cy="304800"/>
          </a:xfrm>
          <a:custGeom>
            <a:avLst/>
            <a:gdLst/>
            <a:ahLst/>
            <a:cxnLst/>
            <a:rect l="l" t="t" r="r" b="b"/>
            <a:pathLst>
              <a:path w="1238250" h="304800">
                <a:moveTo>
                  <a:pt x="152400" y="0"/>
                </a:moveTo>
                <a:lnTo>
                  <a:pt x="1085850" y="0"/>
                </a:lnTo>
                <a:cubicBezTo>
                  <a:pt x="1170018" y="0"/>
                  <a:pt x="1238250" y="68232"/>
                  <a:pt x="1238250" y="152400"/>
                </a:cubicBezTo>
                <a:lnTo>
                  <a:pt x="1238250" y="152400"/>
                </a:lnTo>
                <a:cubicBezTo>
                  <a:pt x="1238250" y="236568"/>
                  <a:pt x="1170018" y="304800"/>
                  <a:pt x="108585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8F4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34287" y="2095024"/>
            <a:ext cx="10286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Framer Motion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10625" y="2000250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152400" y="0"/>
                </a:moveTo>
                <a:lnTo>
                  <a:pt x="800100" y="0"/>
                </a:lnTo>
                <a:cubicBezTo>
                  <a:pt x="884268" y="0"/>
                  <a:pt x="952500" y="68232"/>
                  <a:pt x="952500" y="152400"/>
                </a:cubicBezTo>
                <a:lnTo>
                  <a:pt x="952500" y="152400"/>
                </a:lnTo>
                <a:cubicBezTo>
                  <a:pt x="952500" y="236568"/>
                  <a:pt x="884268" y="304800"/>
                  <a:pt x="8001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8F4E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939855" y="2095024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Zustand 5</a:t>
            </a:r>
          </a:p>
        </p:txBody>
      </p:sp>
      <p:sp>
        <p:nvSpPr>
          <p:cNvPr id="28" name="Freeform 28"/>
          <p:cNvSpPr/>
          <p:nvPr/>
        </p:nvSpPr>
        <p:spPr>
          <a:xfrm>
            <a:off x="7429500" y="2428875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152400" y="0"/>
                </a:moveTo>
                <a:lnTo>
                  <a:pt x="800100" y="0"/>
                </a:lnTo>
                <a:cubicBezTo>
                  <a:pt x="884268" y="0"/>
                  <a:pt x="952500" y="68232"/>
                  <a:pt x="952500" y="152400"/>
                </a:cubicBezTo>
                <a:lnTo>
                  <a:pt x="952500" y="152400"/>
                </a:lnTo>
                <a:cubicBezTo>
                  <a:pt x="952500" y="236568"/>
                  <a:pt x="884268" y="304800"/>
                  <a:pt x="8001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8F4E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555170" y="252364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Dexie.js 4</a:t>
            </a:r>
          </a:p>
        </p:txBody>
      </p:sp>
      <p:sp>
        <p:nvSpPr>
          <p:cNvPr id="30" name="Freeform 30"/>
          <p:cNvSpPr/>
          <p:nvPr/>
        </p:nvSpPr>
        <p:spPr>
          <a:xfrm>
            <a:off x="8524875" y="2428875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152400" y="0"/>
                </a:moveTo>
                <a:lnTo>
                  <a:pt x="609600" y="0"/>
                </a:lnTo>
                <a:cubicBezTo>
                  <a:pt x="693768" y="0"/>
                  <a:pt x="762000" y="68232"/>
                  <a:pt x="762000" y="152400"/>
                </a:cubicBezTo>
                <a:lnTo>
                  <a:pt x="762000" y="152400"/>
                </a:lnTo>
                <a:cubicBezTo>
                  <a:pt x="762000" y="236568"/>
                  <a:pt x="693768" y="304800"/>
                  <a:pt x="6096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761774" y="2523649"/>
            <a:ext cx="288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PWA</a:t>
            </a:r>
          </a:p>
        </p:txBody>
      </p:sp>
      <p:sp>
        <p:nvSpPr>
          <p:cNvPr id="32" name="Freeform 32"/>
          <p:cNvSpPr/>
          <p:nvPr/>
        </p:nvSpPr>
        <p:spPr>
          <a:xfrm>
            <a:off x="7429500" y="2857500"/>
            <a:ext cx="1143000" cy="304800"/>
          </a:xfrm>
          <a:custGeom>
            <a:avLst/>
            <a:gdLst/>
            <a:ahLst/>
            <a:cxnLst/>
            <a:rect l="l" t="t" r="r" b="b"/>
            <a:pathLst>
              <a:path w="1143000" h="304800">
                <a:moveTo>
                  <a:pt x="152400" y="0"/>
                </a:moveTo>
                <a:lnTo>
                  <a:pt x="990600" y="0"/>
                </a:lnTo>
                <a:cubicBezTo>
                  <a:pt x="1074768" y="0"/>
                  <a:pt x="1143000" y="68232"/>
                  <a:pt x="1143000" y="152400"/>
                </a:cubicBezTo>
                <a:lnTo>
                  <a:pt x="1143000" y="152400"/>
                </a:lnTo>
                <a:cubicBezTo>
                  <a:pt x="1143000" y="236568"/>
                  <a:pt x="1074768" y="304800"/>
                  <a:pt x="9906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BEEF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771459" y="2952274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Hono 4</a:t>
            </a:r>
          </a:p>
        </p:txBody>
      </p:sp>
      <p:sp>
        <p:nvSpPr>
          <p:cNvPr id="34" name="Freeform 34"/>
          <p:cNvSpPr/>
          <p:nvPr/>
        </p:nvSpPr>
        <p:spPr>
          <a:xfrm>
            <a:off x="8715375" y="2857500"/>
            <a:ext cx="857250" cy="304800"/>
          </a:xfrm>
          <a:custGeom>
            <a:avLst/>
            <a:gdLst/>
            <a:ahLst/>
            <a:cxnLst/>
            <a:rect l="l" t="t" r="r" b="b"/>
            <a:pathLst>
              <a:path w="857250" h="304800">
                <a:moveTo>
                  <a:pt x="152400" y="0"/>
                </a:moveTo>
                <a:lnTo>
                  <a:pt x="704850" y="0"/>
                </a:lnTo>
                <a:cubicBezTo>
                  <a:pt x="789018" y="0"/>
                  <a:pt x="857250" y="68232"/>
                  <a:pt x="857250" y="152400"/>
                </a:cubicBezTo>
                <a:lnTo>
                  <a:pt x="857250" y="152400"/>
                </a:lnTo>
                <a:cubicBezTo>
                  <a:pt x="857250" y="236568"/>
                  <a:pt x="789018" y="304800"/>
                  <a:pt x="70485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BEEF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679501" y="2952274"/>
            <a:ext cx="928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85C7E"/>
                </a:solidFill>
                <a:latin typeface="Arial"/>
                <a:ea typeface="Microsoft YaHei"/>
                <a:cs typeface="Arial"/>
              </a:rPr>
              <a:t>Safety Guard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8665" y="5601652"/>
            <a:ext cx="55473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🔄 PWA 离线可用 · 📱 可安装到主屏幕 · 💾 本地优先数据架构 · 🛡️ 三层 AI 安全管线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12 / 17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280988"/>
            <a:ext cx="34558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🛡 安全边界与隐私保护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858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7712" y="9263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安全管线流程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1181100"/>
            <a:ext cx="1428750" cy="342900"/>
          </a:xfrm>
          <a:custGeom>
            <a:avLst/>
            <a:gdLst/>
            <a:ahLst/>
            <a:cxnLst/>
            <a:rect l="l" t="t" r="r" b="b"/>
            <a:pathLst>
              <a:path w="1428750" h="34290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266700"/>
                </a:lnTo>
                <a:cubicBezTo>
                  <a:pt x="1428750" y="308784"/>
                  <a:pt x="1394634" y="342900"/>
                  <a:pt x="135255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2EBE5"/>
          </a:solidFill>
          <a:ln w="14288">
            <a:solidFill>
              <a:srgbClr val="49826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79195" y="129492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用户输入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0760" y="1280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9" name="Freeform 9"/>
          <p:cNvSpPr/>
          <p:nvPr/>
        </p:nvSpPr>
        <p:spPr>
          <a:xfrm>
            <a:off x="2476500" y="1181100"/>
            <a:ext cx="1619250" cy="342900"/>
          </a:xfrm>
          <a:custGeom>
            <a:avLst/>
            <a:gdLst/>
            <a:ahLst/>
            <a:cxnLst/>
            <a:rect l="l" t="t" r="r" b="b"/>
            <a:pathLst>
              <a:path w="1619250" h="342900">
                <a:moveTo>
                  <a:pt x="76200" y="0"/>
                </a:moveTo>
                <a:lnTo>
                  <a:pt x="1543050" y="0"/>
                </a:lnTo>
                <a:cubicBezTo>
                  <a:pt x="1585134" y="0"/>
                  <a:pt x="1619250" y="34116"/>
                  <a:pt x="1619250" y="76200"/>
                </a:cubicBezTo>
                <a:lnTo>
                  <a:pt x="1619250" y="266700"/>
                </a:lnTo>
                <a:cubicBezTo>
                  <a:pt x="1619250" y="308784"/>
                  <a:pt x="1585134" y="342900"/>
                  <a:pt x="154305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775347" y="129492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紧急关键词检测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75760" y="1280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81500" y="1181100"/>
            <a:ext cx="1238250" cy="342900"/>
          </a:xfrm>
          <a:custGeom>
            <a:avLst/>
            <a:gdLst/>
            <a:ahLst/>
            <a:cxnLst/>
            <a:rect l="l" t="t" r="r" b="b"/>
            <a:pathLst>
              <a:path w="1238250" h="342900">
                <a:moveTo>
                  <a:pt x="76200" y="0"/>
                </a:moveTo>
                <a:lnTo>
                  <a:pt x="1162050" y="0"/>
                </a:lnTo>
                <a:cubicBezTo>
                  <a:pt x="1204134" y="0"/>
                  <a:pt x="1238250" y="34116"/>
                  <a:pt x="1238250" y="76200"/>
                </a:cubicBezTo>
                <a:lnTo>
                  <a:pt x="1238250" y="266700"/>
                </a:lnTo>
                <a:cubicBezTo>
                  <a:pt x="1238250" y="308784"/>
                  <a:pt x="1204134" y="342900"/>
                  <a:pt x="116205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763964" y="1294924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AI 处理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760" y="1280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5" name="Freeform 15"/>
          <p:cNvSpPr/>
          <p:nvPr/>
        </p:nvSpPr>
        <p:spPr>
          <a:xfrm>
            <a:off x="5905500" y="1181100"/>
            <a:ext cx="1619250" cy="342900"/>
          </a:xfrm>
          <a:custGeom>
            <a:avLst/>
            <a:gdLst/>
            <a:ahLst/>
            <a:cxnLst/>
            <a:rect l="l" t="t" r="r" b="b"/>
            <a:pathLst>
              <a:path w="1619250" h="342900">
                <a:moveTo>
                  <a:pt x="76200" y="0"/>
                </a:moveTo>
                <a:lnTo>
                  <a:pt x="1543050" y="0"/>
                </a:lnTo>
                <a:cubicBezTo>
                  <a:pt x="1585134" y="0"/>
                  <a:pt x="1619250" y="34116"/>
                  <a:pt x="1619250" y="76200"/>
                </a:cubicBezTo>
                <a:lnTo>
                  <a:pt x="1619250" y="266700"/>
                </a:lnTo>
                <a:cubicBezTo>
                  <a:pt x="1619250" y="308784"/>
                  <a:pt x="1585134" y="342900"/>
                  <a:pt x="154305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275546" y="12949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输出正则过滤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4760" y="1280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8" name="Freeform 18"/>
          <p:cNvSpPr/>
          <p:nvPr/>
        </p:nvSpPr>
        <p:spPr>
          <a:xfrm>
            <a:off x="7810500" y="11811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76200" y="0"/>
                </a:moveTo>
                <a:lnTo>
                  <a:pt x="1257300" y="0"/>
                </a:lnTo>
                <a:cubicBezTo>
                  <a:pt x="1299384" y="0"/>
                  <a:pt x="1333500" y="34116"/>
                  <a:pt x="1333500" y="76200"/>
                </a:cubicBezTo>
                <a:lnTo>
                  <a:pt x="1333500" y="266700"/>
                </a:lnTo>
                <a:cubicBezTo>
                  <a:pt x="1333500" y="308784"/>
                  <a:pt x="1299384" y="342900"/>
                  <a:pt x="125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83630" y="1294924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XSS 转义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24010" y="12801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1" name="Freeform 21"/>
          <p:cNvSpPr/>
          <p:nvPr/>
        </p:nvSpPr>
        <p:spPr>
          <a:xfrm>
            <a:off x="9429750" y="1181100"/>
            <a:ext cx="1428750" cy="342900"/>
          </a:xfrm>
          <a:custGeom>
            <a:avLst/>
            <a:gdLst/>
            <a:ahLst/>
            <a:cxnLst/>
            <a:rect l="l" t="t" r="r" b="b"/>
            <a:pathLst>
              <a:path w="1428750" h="342900">
                <a:moveTo>
                  <a:pt x="76200" y="0"/>
                </a:moveTo>
                <a:lnTo>
                  <a:pt x="1352550" y="0"/>
                </a:lnTo>
                <a:cubicBezTo>
                  <a:pt x="1394634" y="0"/>
                  <a:pt x="1428750" y="34116"/>
                  <a:pt x="1428750" y="76200"/>
                </a:cubicBezTo>
                <a:lnTo>
                  <a:pt x="1428750" y="266700"/>
                </a:lnTo>
                <a:cubicBezTo>
                  <a:pt x="1428750" y="308784"/>
                  <a:pt x="1394634" y="342900"/>
                  <a:pt x="135255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2EBE5"/>
          </a:solidFill>
          <a:ln w="14288">
            <a:solidFill>
              <a:srgbClr val="49826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86426" y="1294924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安全展示 ✓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19050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33450"/>
                </a:lnTo>
                <a:cubicBezTo>
                  <a:pt x="38100" y="943971"/>
                  <a:pt x="29571" y="952500"/>
                  <a:pt x="19050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85C7E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762000" y="1905000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857250"/>
                </a:lnTo>
                <a:cubicBezTo>
                  <a:pt x="5143500" y="909855"/>
                  <a:pt x="5100855" y="952500"/>
                  <a:pt x="5048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31558" y="2053114"/>
            <a:ext cx="24373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1. 输入层 — 紧急关键词检测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5368" y="2323624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检测「自杀」「胸痛」「呼吸困难」等 10+ 紧急关键词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368" y="2542699"/>
            <a:ext cx="35633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触发后不调用 AI，直接返回安全引导信息，建议拨打 120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19050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33450"/>
                </a:lnTo>
                <a:cubicBezTo>
                  <a:pt x="38100" y="943971"/>
                  <a:pt x="29571" y="952500"/>
                  <a:pt x="19050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973B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6286500" y="1905000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857250"/>
                </a:lnTo>
                <a:cubicBezTo>
                  <a:pt x="5143500" y="909855"/>
                  <a:pt x="5100855" y="952500"/>
                  <a:pt x="5048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56058" y="2053114"/>
            <a:ext cx="22906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2. 输出层 — 六组正则过滤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9868" y="2323624"/>
            <a:ext cx="39763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过滤诊断用语 / 药物建议 / 处方 / 剂量 / 疾病描述 / 命令语气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9868" y="2542699"/>
            <a:ext cx="24669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高风险匹配 → 全文替换为安全边界提示</a:t>
            </a:r>
          </a:p>
        </p:txBody>
      </p:sp>
      <p:sp>
        <p:nvSpPr>
          <p:cNvPr id="33" name="Freeform 33"/>
          <p:cNvSpPr/>
          <p:nvPr/>
        </p:nvSpPr>
        <p:spPr>
          <a:xfrm>
            <a:off x="762000" y="3095625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33450"/>
                </a:lnTo>
                <a:cubicBezTo>
                  <a:pt x="38100" y="943971"/>
                  <a:pt x="29571" y="952500"/>
                  <a:pt x="19050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762000" y="3095625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857250"/>
                </a:lnTo>
                <a:cubicBezTo>
                  <a:pt x="5143500" y="909855"/>
                  <a:pt x="5100855" y="952500"/>
                  <a:pt x="5048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1558" y="3243739"/>
            <a:ext cx="24275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3. 展示层 — HTML 实体转义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5368" y="3514249"/>
            <a:ext cx="2708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`&lt;` `&gt;` `"` `'` `/` — 防止 XSS 注入攻击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5368" y="3733324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所有用户可见文本经过安全转义后再渲染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3095625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933450"/>
                </a:lnTo>
                <a:cubicBezTo>
                  <a:pt x="38100" y="943971"/>
                  <a:pt x="29571" y="952500"/>
                  <a:pt x="19050" y="952500"/>
                </a:cubicBezTo>
                <a:lnTo>
                  <a:pt x="19050" y="952500"/>
                </a:lnTo>
                <a:cubicBezTo>
                  <a:pt x="8529" y="952500"/>
                  <a:pt x="0" y="943971"/>
                  <a:pt x="0" y="933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D9C83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6286500" y="3095625"/>
            <a:ext cx="5143500" cy="952500"/>
          </a:xfrm>
          <a:custGeom>
            <a:avLst/>
            <a:gdLst/>
            <a:ahLst/>
            <a:cxnLst/>
            <a:rect l="l" t="t" r="r" b="b"/>
            <a:pathLst>
              <a:path w="5143500" h="95250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857250"/>
                </a:lnTo>
                <a:cubicBezTo>
                  <a:pt x="5143500" y="909855"/>
                  <a:pt x="5100855" y="952500"/>
                  <a:pt x="50482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56058" y="3243739"/>
            <a:ext cx="29065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4. 隐私层 — 数据本地 + 逐项授权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59868" y="3514249"/>
            <a:ext cx="3342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所有健康数据默认本地 IndexedDB 存储，不上传云端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9868" y="3733324"/>
            <a:ext cx="36203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AI 功能按数据类别独立授权（情绪/树洞/饮食逐项开关）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8665" y="4839652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用户拥有完全控制权。断网也能正常使用所有本地功能。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13 / 17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280988"/>
            <a:ext cx="493951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纸墨手帐 — 一种温柔的设计语言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858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7712" y="926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色彩系统</a:t>
            </a:r>
          </a:p>
        </p:txBody>
      </p:sp>
      <p:sp>
        <p:nvSpPr>
          <p:cNvPr id="6" name="Ellipse 6"/>
          <p:cNvSpPr/>
          <p:nvPr/>
        </p:nvSpPr>
        <p:spPr>
          <a:xfrm>
            <a:off x="1257300" y="1114425"/>
            <a:ext cx="723900" cy="7239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88538" y="1934528"/>
            <a:ext cx="461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Ink 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4788" y="215074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#498268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7771" y="233029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主色调 · 标题重点</a:t>
            </a:r>
          </a:p>
        </p:txBody>
      </p:sp>
      <p:sp>
        <p:nvSpPr>
          <p:cNvPr id="10" name="Ellipse 10"/>
          <p:cNvSpPr/>
          <p:nvPr/>
        </p:nvSpPr>
        <p:spPr>
          <a:xfrm>
            <a:off x="3067050" y="1114425"/>
            <a:ext cx="723900" cy="723900"/>
          </a:xfrm>
          <a:prstGeom prst="ellipse">
            <a:avLst/>
          </a:prstGeom>
          <a:solidFill>
            <a:srgbClr val="FDFCF9"/>
          </a:solidFill>
          <a:ln w="14288">
            <a:solidFill>
              <a:srgbClr val="E5D9C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009089" y="1934528"/>
            <a:ext cx="839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Paper 宣纸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64538" y="215074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#FDFCF9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57049" y="23302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全局基底背景</a:t>
            </a:r>
          </a:p>
        </p:txBody>
      </p:sp>
      <p:sp>
        <p:nvSpPr>
          <p:cNvPr id="14" name="Ellipse 14"/>
          <p:cNvSpPr/>
          <p:nvPr/>
        </p:nvSpPr>
        <p:spPr>
          <a:xfrm>
            <a:off x="4876800" y="1114425"/>
            <a:ext cx="723900" cy="723900"/>
          </a:xfrm>
          <a:prstGeom prst="ellipse">
            <a:avLst/>
          </a:prstGeom>
          <a:solidFill>
            <a:srgbClr val="F597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30916" y="1934528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Warm 暖橙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74288" y="215074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#F5973B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28234" y="2330291"/>
            <a:ext cx="1021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活动 · 提醒 · 数据</a:t>
            </a:r>
          </a:p>
        </p:txBody>
      </p:sp>
      <p:sp>
        <p:nvSpPr>
          <p:cNvPr id="18" name="Ellipse 18"/>
          <p:cNvSpPr/>
          <p:nvPr/>
        </p:nvSpPr>
        <p:spPr>
          <a:xfrm>
            <a:off x="6686550" y="1114425"/>
            <a:ext cx="723900" cy="723900"/>
          </a:xfrm>
          <a:prstGeom prst="ellipse">
            <a:avLst/>
          </a:prstGeom>
          <a:solidFill>
            <a:srgbClr val="D85C7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624564" y="1934528"/>
            <a:ext cx="847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Blossom 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84038" y="215074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#D85C7E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7266" y="23302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情绪 · 温柔互动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2762250"/>
            <a:ext cx="10668000" cy="9525"/>
          </a:xfrm>
          <a:prstGeom prst="rect">
            <a:avLst/>
          </a:prstGeom>
          <a:solidFill>
            <a:srgbClr val="E5D9C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7712" y="2974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六大交互亮点</a:t>
            </a:r>
          </a:p>
        </p:txBody>
      </p:sp>
      <p:sp>
        <p:nvSpPr>
          <p:cNvPr id="24" name="Ellipse 24"/>
          <p:cNvSpPr/>
          <p:nvPr/>
        </p:nvSpPr>
        <p:spPr>
          <a:xfrm>
            <a:off x="962025" y="3343275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60565" y="3438049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4460" y="3413760"/>
            <a:ext cx="44295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纸纹理叠层 — CSS 噪声纹理叠加，滚动时透明度动态变化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409700" y="3676650"/>
            <a:ext cx="4762500" cy="9525"/>
          </a:xfrm>
          <a:prstGeom prst="rect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62025" y="3848100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41875" y="39428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4460" y="3918585"/>
            <a:ext cx="51480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时间感知光晕 — 清晨/上午/午后/傍晚/深夜，6 个时段不同环境色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409700" y="4181475"/>
            <a:ext cx="4762500" cy="9525"/>
          </a:xfrm>
          <a:prstGeom prst="rect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962025" y="4352925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41875" y="44476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4460" y="442341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天气粒子动画 — 晴天微光、雨天雨滴、雪天雪花飘落</a:t>
            </a:r>
          </a:p>
        </p:txBody>
      </p:sp>
      <p:sp>
        <p:nvSpPr>
          <p:cNvPr id="35" name="Ellipse 35"/>
          <p:cNvSpPr/>
          <p:nvPr/>
        </p:nvSpPr>
        <p:spPr>
          <a:xfrm>
            <a:off x="5962650" y="3343275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042500" y="343804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95085" y="3413760"/>
            <a:ext cx="36320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3D 翻页过渡 — 桌面端模块切换时页面翻转动画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10325" y="3676650"/>
            <a:ext cx="4762500" cy="9525"/>
          </a:xfrm>
          <a:prstGeom prst="rect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5962650" y="3848100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042500" y="39428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95085" y="3918585"/>
            <a:ext cx="32114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季节色温微调 — 冬季偏暖红、夏季偏冷绿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10325" y="4181475"/>
            <a:ext cx="4762500" cy="9525"/>
          </a:xfrm>
          <a:prstGeom prst="rect">
            <a:avLst/>
          </a:prstGeom>
          <a:solidFill>
            <a:srgbClr val="F4F7F5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5962650" y="4352925"/>
            <a:ext cx="266700" cy="266700"/>
          </a:xfrm>
          <a:prstGeom prst="ellipse">
            <a:avLst/>
          </a:prstGeom>
          <a:solidFill>
            <a:srgbClr val="49826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42500" y="44476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95085" y="4423410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摇一摇鼓励 — 手机摇晃触发全屏温柔短句 + 触觉反馈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14 / 17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280988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本地优先的数据架构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858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52500" y="1000125"/>
            <a:ext cx="1714500" cy="342900"/>
          </a:xfrm>
          <a:custGeom>
            <a:avLst/>
            <a:gdLst/>
            <a:ahLst/>
            <a:cxnLst/>
            <a:rect l="l" t="t" r="r" b="b"/>
            <a:pathLst>
              <a:path w="1714500" h="34290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85750"/>
                </a:lnTo>
                <a:cubicBezTo>
                  <a:pt x="1714500" y="317313"/>
                  <a:pt x="1688913" y="342900"/>
                  <a:pt x="16573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73089" y="1123474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7" name="Freeform 7"/>
          <p:cNvSpPr/>
          <p:nvPr/>
        </p:nvSpPr>
        <p:spPr>
          <a:xfrm>
            <a:off x="2743200" y="1000125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85750"/>
                </a:lnTo>
                <a:cubicBezTo>
                  <a:pt x="1143000" y="317313"/>
                  <a:pt x="1117413" y="342900"/>
                  <a:pt x="1085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152799" y="11234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9" name="Freeform 9"/>
          <p:cNvSpPr/>
          <p:nvPr/>
        </p:nvSpPr>
        <p:spPr>
          <a:xfrm>
            <a:off x="3962400" y="1000125"/>
            <a:ext cx="1714500" cy="342900"/>
          </a:xfrm>
          <a:custGeom>
            <a:avLst/>
            <a:gdLst/>
            <a:ahLst/>
            <a:cxnLst/>
            <a:rect l="l" t="t" r="r" b="b"/>
            <a:pathLst>
              <a:path w="1714500" h="34290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85750"/>
                </a:lnTo>
                <a:cubicBezTo>
                  <a:pt x="1714500" y="317313"/>
                  <a:pt x="1688913" y="342900"/>
                  <a:pt x="16573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82989" y="1123474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11" name="Freeform 11"/>
          <p:cNvSpPr/>
          <p:nvPr/>
        </p:nvSpPr>
        <p:spPr>
          <a:xfrm>
            <a:off x="5753100" y="1000125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85750"/>
                </a:lnTo>
                <a:cubicBezTo>
                  <a:pt x="1143000" y="317313"/>
                  <a:pt x="1117413" y="342900"/>
                  <a:pt x="1085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162699" y="11234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说明</a:t>
            </a:r>
          </a:p>
        </p:txBody>
      </p:sp>
      <p:sp>
        <p:nvSpPr>
          <p:cNvPr id="13" name="Freeform 13"/>
          <p:cNvSpPr/>
          <p:nvPr/>
        </p:nvSpPr>
        <p:spPr>
          <a:xfrm>
            <a:off x="952500" y="1409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2992" y="1523524"/>
            <a:ext cx="1427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hydration · 喝水记录</a:t>
            </a:r>
          </a:p>
        </p:txBody>
      </p:sp>
      <p:sp>
        <p:nvSpPr>
          <p:cNvPr id="15" name="Freeform 15"/>
          <p:cNvSpPr/>
          <p:nvPr/>
        </p:nvSpPr>
        <p:spPr>
          <a:xfrm>
            <a:off x="2743200" y="1409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984516" y="153162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💧 饮水追踪</a:t>
            </a:r>
          </a:p>
        </p:txBody>
      </p:sp>
      <p:sp>
        <p:nvSpPr>
          <p:cNvPr id="17" name="Freeform 17"/>
          <p:cNvSpPr/>
          <p:nvPr/>
        </p:nvSpPr>
        <p:spPr>
          <a:xfrm>
            <a:off x="3962400" y="1409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092892" y="1523524"/>
            <a:ext cx="12707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sticker · 成就贴纸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53100" y="1409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04274" y="1531620"/>
            <a:ext cx="6406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⭐ 6 种贴纸</a:t>
            </a:r>
          </a:p>
        </p:txBody>
      </p:sp>
      <p:sp>
        <p:nvSpPr>
          <p:cNvPr id="21" name="Freeform 21"/>
          <p:cNvSpPr/>
          <p:nvPr/>
        </p:nvSpPr>
        <p:spPr>
          <a:xfrm>
            <a:off x="952500" y="1790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82992" y="19045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standup · 起身记录</a:t>
            </a:r>
          </a:p>
        </p:txBody>
      </p:sp>
      <p:sp>
        <p:nvSpPr>
          <p:cNvPr id="23" name="Freeform 23"/>
          <p:cNvSpPr/>
          <p:nvPr/>
        </p:nvSpPr>
        <p:spPr>
          <a:xfrm>
            <a:off x="2743200" y="1790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984516" y="191262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🏃 久坐恢复</a:t>
            </a:r>
          </a:p>
        </p:txBody>
      </p:sp>
      <p:sp>
        <p:nvSpPr>
          <p:cNvPr id="25" name="Freeform 25"/>
          <p:cNvSpPr/>
          <p:nvPr/>
        </p:nvSpPr>
        <p:spPr>
          <a:xfrm>
            <a:off x="3962400" y="1790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92892" y="190452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gentleQuote · 温柔语录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53100" y="1790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050280" y="19126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💬 AI 短句</a:t>
            </a:r>
          </a:p>
        </p:txBody>
      </p:sp>
      <p:sp>
        <p:nvSpPr>
          <p:cNvPr id="29" name="Freeform 29"/>
          <p:cNvSpPr/>
          <p:nvPr/>
        </p:nvSpPr>
        <p:spPr>
          <a:xfrm>
            <a:off x="952500" y="2171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82992" y="228552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emotionFood · 情绪进食</a:t>
            </a:r>
          </a:p>
        </p:txBody>
      </p:sp>
      <p:sp>
        <p:nvSpPr>
          <p:cNvPr id="31" name="Freeform 31"/>
          <p:cNvSpPr/>
          <p:nvPr/>
        </p:nvSpPr>
        <p:spPr>
          <a:xfrm>
            <a:off x="2743200" y="2171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984516" y="229362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🍽 饮食情绪</a:t>
            </a:r>
          </a:p>
        </p:txBody>
      </p:sp>
      <p:sp>
        <p:nvSpPr>
          <p:cNvPr id="33" name="Freeform 33"/>
          <p:cNvSpPr/>
          <p:nvPr/>
        </p:nvSpPr>
        <p:spPr>
          <a:xfrm>
            <a:off x="3962400" y="2171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092892" y="2285524"/>
            <a:ext cx="1584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cycleRecord · 生理周期</a:t>
            </a:r>
          </a:p>
        </p:txBody>
      </p:sp>
      <p:sp>
        <p:nvSpPr>
          <p:cNvPr id="35" name="Freeform 35"/>
          <p:cNvSpPr/>
          <p:nvPr/>
        </p:nvSpPr>
        <p:spPr>
          <a:xfrm>
            <a:off x="5753100" y="2171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060138" y="2293620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📅 四阶段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2552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82992" y="2666524"/>
            <a:ext cx="13419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medicine · 用药提醒</a:t>
            </a:r>
          </a:p>
        </p:txBody>
      </p:sp>
      <p:sp>
        <p:nvSpPr>
          <p:cNvPr id="39" name="Freeform 39"/>
          <p:cNvSpPr/>
          <p:nvPr/>
        </p:nvSpPr>
        <p:spPr>
          <a:xfrm>
            <a:off x="2743200" y="2552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984516" y="267462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💊 定时提醒</a:t>
            </a:r>
          </a:p>
        </p:txBody>
      </p:sp>
      <p:sp>
        <p:nvSpPr>
          <p:cNvPr id="41" name="Freeform 41"/>
          <p:cNvSpPr/>
          <p:nvPr/>
        </p:nvSpPr>
        <p:spPr>
          <a:xfrm>
            <a:off x="3962400" y="2552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092892" y="2666524"/>
            <a:ext cx="1149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snack · 零食记录</a:t>
            </a:r>
          </a:p>
        </p:txBody>
      </p:sp>
      <p:sp>
        <p:nvSpPr>
          <p:cNvPr id="43" name="Freeform 43"/>
          <p:cNvSpPr/>
          <p:nvPr/>
        </p:nvSpPr>
        <p:spPr>
          <a:xfrm>
            <a:off x="5753100" y="2552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96286" y="2674620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🍪 emoji</a:t>
            </a:r>
          </a:p>
        </p:txBody>
      </p:sp>
      <p:sp>
        <p:nvSpPr>
          <p:cNvPr id="45" name="Freeform 45"/>
          <p:cNvSpPr/>
          <p:nvPr/>
        </p:nvSpPr>
        <p:spPr>
          <a:xfrm>
            <a:off x="952500" y="2933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82992" y="3047524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moodTreeHole · 情绪树洞</a:t>
            </a:r>
          </a:p>
        </p:txBody>
      </p:sp>
      <p:sp>
        <p:nvSpPr>
          <p:cNvPr id="47" name="Freeform 47"/>
          <p:cNvSpPr/>
          <p:nvPr/>
        </p:nvSpPr>
        <p:spPr>
          <a:xfrm>
            <a:off x="2743200" y="2933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F7F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984516" y="305562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🌳 倾诉记录</a:t>
            </a:r>
          </a:p>
        </p:txBody>
      </p:sp>
      <p:sp>
        <p:nvSpPr>
          <p:cNvPr id="49" name="Freeform 49"/>
          <p:cNvSpPr/>
          <p:nvPr/>
        </p:nvSpPr>
        <p:spPr>
          <a:xfrm>
            <a:off x="3962400" y="2933700"/>
            <a:ext cx="1714500" cy="323850"/>
          </a:xfrm>
          <a:custGeom>
            <a:avLst/>
            <a:gdLst/>
            <a:ahLst/>
            <a:cxnLst/>
            <a:rect l="l" t="t" r="r" b="b"/>
            <a:pathLst>
              <a:path w="1714500" h="323850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266700"/>
                </a:lnTo>
                <a:cubicBezTo>
                  <a:pt x="1714500" y="298263"/>
                  <a:pt x="1688913" y="323850"/>
                  <a:pt x="16573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092892" y="3047524"/>
            <a:ext cx="1114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sleep · 睡眠记录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53100" y="293370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266700"/>
                </a:lnTo>
                <a:cubicBezTo>
                  <a:pt x="1143000" y="298263"/>
                  <a:pt x="1117413" y="323850"/>
                  <a:pt x="1085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DFCF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922121" y="3055620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😴 好/一般/差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7712" y="3640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D9C83"/>
                </a:solidFill>
                <a:latin typeface="Arial"/>
                <a:ea typeface="Microsoft YaHei"/>
                <a:cs typeface="Arial"/>
              </a:rPr>
              <a:t>数据原则</a:t>
            </a:r>
          </a:p>
        </p:txBody>
      </p:sp>
      <p:sp>
        <p:nvSpPr>
          <p:cNvPr id="54" name="Freeform 54"/>
          <p:cNvSpPr/>
          <p:nvPr/>
        </p:nvSpPr>
        <p:spPr>
          <a:xfrm>
            <a:off x="762000" y="3952875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200025" y="0"/>
                </a:moveTo>
                <a:lnTo>
                  <a:pt x="1704975" y="0"/>
                </a:lnTo>
                <a:cubicBezTo>
                  <a:pt x="1815446" y="0"/>
                  <a:pt x="1905000" y="89554"/>
                  <a:pt x="1905000" y="200025"/>
                </a:cubicBezTo>
                <a:lnTo>
                  <a:pt x="1905000" y="200025"/>
                </a:lnTo>
                <a:cubicBezTo>
                  <a:pt x="1905000" y="310496"/>
                  <a:pt x="1815446" y="400050"/>
                  <a:pt x="17049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37464" y="407908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💾 全部本地存储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40355" y="405479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7" name="Freeform 57"/>
          <p:cNvSpPr/>
          <p:nvPr/>
        </p:nvSpPr>
        <p:spPr>
          <a:xfrm>
            <a:off x="3143250" y="3952875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200025" y="0"/>
                </a:moveTo>
                <a:lnTo>
                  <a:pt x="1704975" y="0"/>
                </a:lnTo>
                <a:cubicBezTo>
                  <a:pt x="1815446" y="0"/>
                  <a:pt x="1905000" y="89554"/>
                  <a:pt x="1905000" y="200025"/>
                </a:cubicBezTo>
                <a:lnTo>
                  <a:pt x="1905000" y="200025"/>
                </a:lnTo>
                <a:cubicBezTo>
                  <a:pt x="1905000" y="310496"/>
                  <a:pt x="1815446" y="400050"/>
                  <a:pt x="17049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3600867" y="4079081"/>
            <a:ext cx="989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☁ 不上传云端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221605" y="405479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0" name="Freeform 60"/>
          <p:cNvSpPr/>
          <p:nvPr/>
        </p:nvSpPr>
        <p:spPr>
          <a:xfrm>
            <a:off x="5524500" y="3952875"/>
            <a:ext cx="2190750" cy="400050"/>
          </a:xfrm>
          <a:custGeom>
            <a:avLst/>
            <a:gdLst/>
            <a:ahLst/>
            <a:cxnLst/>
            <a:rect l="l" t="t" r="r" b="b"/>
            <a:pathLst>
              <a:path w="2190750" h="400050">
                <a:moveTo>
                  <a:pt x="200025" y="0"/>
                </a:moveTo>
                <a:lnTo>
                  <a:pt x="1990725" y="0"/>
                </a:lnTo>
                <a:cubicBezTo>
                  <a:pt x="2101196" y="0"/>
                  <a:pt x="2190750" y="89554"/>
                  <a:pt x="2190750" y="200025"/>
                </a:cubicBezTo>
                <a:lnTo>
                  <a:pt x="2190750" y="200025"/>
                </a:lnTo>
                <a:cubicBezTo>
                  <a:pt x="2190750" y="310496"/>
                  <a:pt x="2101196" y="400050"/>
                  <a:pt x="1990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042839" y="407908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🔒 用户完全掌控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88605" y="405479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3" name="Freeform 63"/>
          <p:cNvSpPr/>
          <p:nvPr/>
        </p:nvSpPr>
        <p:spPr>
          <a:xfrm>
            <a:off x="8191500" y="3952875"/>
            <a:ext cx="2190750" cy="400050"/>
          </a:xfrm>
          <a:custGeom>
            <a:avLst/>
            <a:gdLst/>
            <a:ahLst/>
            <a:cxnLst/>
            <a:rect l="l" t="t" r="r" b="b"/>
            <a:pathLst>
              <a:path w="2190750" h="400050">
                <a:moveTo>
                  <a:pt x="200025" y="0"/>
                </a:moveTo>
                <a:lnTo>
                  <a:pt x="1990725" y="0"/>
                </a:lnTo>
                <a:cubicBezTo>
                  <a:pt x="2101196" y="0"/>
                  <a:pt x="2190750" y="89554"/>
                  <a:pt x="2190750" y="200025"/>
                </a:cubicBezTo>
                <a:lnTo>
                  <a:pt x="2190750" y="200025"/>
                </a:lnTo>
                <a:cubicBezTo>
                  <a:pt x="2190750" y="310496"/>
                  <a:pt x="2101196" y="400050"/>
                  <a:pt x="1990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E2EBE5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697516" y="40790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📤 AI 最小化数据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50570" y="4760595"/>
            <a:ext cx="54449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数据库：LightNurtureDB · 引擎：Dexie.js · 版本：v12（12 次增量迁移）· 共计 11 张业务表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15 / 17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280988"/>
            <a:ext cx="3904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温柔的力量 — 总结与展望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858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1047750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7F5"/>
          </a:solidFill>
          <a:ln w="9525">
            <a:solidFill>
              <a:srgbClr val="E5D9C3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28700" y="1266825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98268"/>
                </a:solidFill>
                <a:latin typeface="Arial"/>
                <a:ea typeface="Microsoft YaHei"/>
                <a:cs typeface="Arial"/>
              </a:rPr>
              <a:t>✅ 已完成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3462" y="1688306"/>
            <a:ext cx="2131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6 大功能模块，30+ 交互卡片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462" y="197405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PWA 跨平台（桌面 + 移动端）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462" y="2259806"/>
            <a:ext cx="2074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完整 AI 安全管线与隐私控制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462" y="254555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纸墨手帐设计语言 + 8 种核心动画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462" y="2831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离线可用，本地优先数据架构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3462" y="3117056"/>
            <a:ext cx="19098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12 个 IndexedDB 版本迁移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77000" y="1047750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EFAF5"/>
          </a:solidFill>
          <a:ln w="9525">
            <a:solidFill>
              <a:srgbClr val="E5D9C3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43700" y="12668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73B"/>
                </a:solidFill>
                <a:latin typeface="Arial"/>
                <a:ea typeface="Microsoft YaHei"/>
                <a:cs typeface="Arial"/>
              </a:rPr>
              <a:t>🔮 未来展望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8462" y="1688306"/>
            <a:ext cx="2024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本地小模型实现完全离线 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8462" y="1974056"/>
            <a:ext cx="26656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Apple Health / Google Fit 数据同步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8462" y="22598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多人陪伴模式（朋友间互相关心）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8462" y="254555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国际化（日 / 韩 / 英多语言）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8462" y="28313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C3A2C"/>
                </a:solidFill>
                <a:latin typeface="Arial"/>
                <a:ea typeface="Microsoft YaHei"/>
                <a:cs typeface="Arial"/>
              </a:rPr>
              <a:t>更多传感器交互（气压、环境光）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" y="4381500"/>
            <a:ext cx="10668000" cy="571500"/>
          </a:xfrm>
          <a:custGeom>
            <a:avLst/>
            <a:gdLst/>
            <a:ahLst/>
            <a:cxnLst/>
            <a:rect l="l" t="t" r="r" b="b"/>
            <a:pathLst>
              <a:path w="10668000" h="571500">
                <a:moveTo>
                  <a:pt x="95250" y="0"/>
                </a:moveTo>
                <a:lnTo>
                  <a:pt x="10572750" y="0"/>
                </a:lnTo>
                <a:cubicBezTo>
                  <a:pt x="10625355" y="0"/>
                  <a:pt x="10668000" y="42645"/>
                  <a:pt x="10668000" y="95250"/>
                </a:cubicBezTo>
                <a:lnTo>
                  <a:pt x="10668000" y="476250"/>
                </a:lnTo>
                <a:cubicBezTo>
                  <a:pt x="10668000" y="528855"/>
                  <a:pt x="10625355" y="571500"/>
                  <a:pt x="10572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982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251329" y="4604385"/>
            <a:ext cx="76893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i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" 它相信微小的行动有意义，相信温柔的提醒比严厉的命令更有效，相信数据可以被温暖地呈现。 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C4D6CC"/>
                </a:solidFill>
                <a:latin typeface="Arial"/>
                <a:ea typeface="Microsoft YaHei"/>
                <a:cs typeface="Arial"/>
              </a:rPr>
              <a:t>16 / 17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A2C"/>
              </a:gs>
              <a:gs pos="50000">
                <a:srgbClr val="244737"/>
              </a:gs>
              <a:gs pos="100000">
                <a:srgbClr val="1C3A2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" y="714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382375" y="714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14375" y="6048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382375" y="6048375"/>
            <a:ext cx="95250" cy="95250"/>
          </a:xfrm>
          <a:prstGeom prst="ellipse">
            <a:avLst/>
          </a:prstGeom>
          <a:solidFill>
            <a:srgbClr val="498268">
              <a:alpha val="3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381625" y="1714500"/>
            <a:ext cx="1428750" cy="9525"/>
          </a:xfrm>
          <a:prstGeom prst="rect">
            <a:avLst/>
          </a:prstGeom>
          <a:solidFill>
            <a:srgbClr val="498268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850320" y="21507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DFCF9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9" name="Rectangle 9"/>
          <p:cNvSpPr/>
          <p:nvPr/>
        </p:nvSpPr>
        <p:spPr>
          <a:xfrm>
            <a:off x="5381625" y="2952750"/>
            <a:ext cx="1428750" cy="9525"/>
          </a:xfrm>
          <a:prstGeom prst="rect">
            <a:avLst/>
          </a:prstGeom>
          <a:solidFill>
            <a:srgbClr val="498268">
              <a:alpha val="4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84520" y="3473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轻养伴侣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95875" y="38790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BBBA8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今天不用一下子变得很健康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02956" y="4145756"/>
            <a:ext cx="29860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BBBA8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先从一口水、一次起身、一次深呼吸开始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5754" y="5013960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DFCF9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欢迎提问 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14343" y="5371624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联系方式：________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66622" y="65784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BBA8"/>
                </a:solidFill>
                <a:latin typeface="Arial"/>
                <a:ea typeface="Microsoft YaHei"/>
                <a:cs typeface="Arial"/>
              </a:rPr>
              <a:t>17 / 17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